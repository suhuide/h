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5"/>
  </p:notes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616065"/>
    <a:srgbClr val="414455"/>
    <a:srgbClr val="E7F0F7"/>
    <a:srgbClr val="C00000"/>
    <a:srgbClr val="95C0E3"/>
    <a:srgbClr val="0A1C3C"/>
    <a:srgbClr val="479EAF"/>
    <a:srgbClr val="5F5F61"/>
    <a:srgbClr val="5AA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682BC-0747-4F56-B882-39B77EBA4375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598DE-2B9D-4983-AF68-CCFD081DE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32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 descr="logo">
            <a:extLst>
              <a:ext uri="{FF2B5EF4-FFF2-40B4-BE49-F238E27FC236}">
                <a16:creationId xmlns:a16="http://schemas.microsoft.com/office/drawing/2014/main" id="{B90685E1-0115-4003-BEED-AE2314BF3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5882"/>
          <a:stretch>
            <a:fillRect/>
          </a:stretch>
        </p:blipFill>
        <p:spPr>
          <a:xfrm>
            <a:off x="10058404" y="402774"/>
            <a:ext cx="1882441" cy="31858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13C1B6E-3931-4C2F-AFBD-241E56CCB8D9}"/>
              </a:ext>
            </a:extLst>
          </p:cNvPr>
          <p:cNvSpPr/>
          <p:nvPr userDrawn="1"/>
        </p:nvSpPr>
        <p:spPr>
          <a:xfrm>
            <a:off x="9989389" y="333734"/>
            <a:ext cx="2035835" cy="465006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979D9-E8A7-4020-9F53-DCBB73454201}" type="datetimeFigureOut">
              <a:rPr lang="zh-CN" altLang="en-US" smtClean="0"/>
              <a:pPr/>
              <a:t>2026/5/16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2D614-3122-4AE3-B731-49486E389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C00000"/>
                </a:solidFill>
                <a:latin typeface="Microsoft YaHei"/>
              </a:rPr>
              <a:t>Matter 安全体系</a:t>
            </a:r>
          </a:p>
          <a:p>
            <a:r>
              <a:rPr sz="3600" b="1">
                <a:solidFill>
                  <a:srgbClr val="000000"/>
                </a:solidFill>
                <a:latin typeface="Microsoft YaHei"/>
              </a:rPr>
              <a:t>PAA / PAI / DAC 证书验签详解</a:t>
            </a:r>
          </a:p>
          <a:p>
            <a:r>
              <a:rPr sz="1400">
                <a:solidFill>
                  <a:srgbClr val="666666"/>
                </a:solidFill>
                <a:latin typeface="Microsoft YaHei"/>
              </a:rPr>
              <a:t>PAA · PAI · DAC Certificate Verification Deep Dive</a:t>
            </a:r>
          </a:p>
          <a:p>
            <a:r>
              <a:rPr sz="1200">
                <a:solidFill>
                  <a:srgbClr val="999999"/>
                </a:solidFill>
                <a:latin typeface="Microsoft YaHei"/>
              </a:rPr>
              <a:t>
部门内部培训  |  基于 Matter Core Spec 1.5  |  2026年5月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Matter 安全架构概览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8249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82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核心术语定义 (PAA/PAI/DAC/NOC)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PAA / PAI / DAC 证书结构详解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PAA / PAI / DAC 特征对比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95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Commissioning 入网总流程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PASE vs CASE 协议对比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941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941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Attestation 请求/响应 TLV 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证书链验证 6 大步骤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98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ECDSA 签名验证细节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01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01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Nonce 机制与防重放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Certification Declaration (CD)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058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7058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VID/PID 一致性校验 + SDK 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2801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Silicon Labs NVM3 存储实现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68249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1682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SDK 接口: DAC 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0848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SDK 实现: DAC 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871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错误码与调试排查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8895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8895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CASE 协议中的证书使用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91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NOC 操作证书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6941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694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安全启动 · ACL · DCL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0965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096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Matter 协议架构与安全消息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4988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498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加密与通信安全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9011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901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常见问题排查 FAQ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303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生产环境 CheckList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058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5705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总结与 Q&amp;A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01  Matter 安全架构概览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  PASE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5C8A"/>
                </a:solidFill>
                <a:latin typeface="Microsoft YaHei"/>
              </a:defRPr>
            </a:pPr>
            <a:r>
              <a:t>Password Authenticated Session Establishment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配网阶段，基于密码/PIN码认证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560320" cy="41148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 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5C8A"/>
                </a:solidFill>
                <a:latin typeface="Microsoft YaHei"/>
              </a:defRPr>
            </a:pPr>
            <a:r>
              <a:t>Certificate Authenticated Session Establishment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运行阶段，基于证书认证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645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560320" cy="41148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  设备认证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5C8A"/>
                </a:solidFill>
                <a:latin typeface="Microsoft YaHei"/>
              </a:defRPr>
            </a:pPr>
            <a:r>
              <a:t>DAC/PAI/PAA 证书链验证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Attestation Request/Response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45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188720"/>
            <a:ext cx="256032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  操作凭据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5C8A"/>
                </a:solidFill>
                <a:latin typeface="Microsoft YaHei"/>
              </a:defRPr>
            </a:pPr>
            <a:r>
              <a:t>分配 NOC 操作证书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设备正式加入 Fabric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286000"/>
            <a:ext cx="54864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3317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Matter 安全核心组件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78892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PASE — 配网阶段加密（基于 PAKE 密码认证）</a:t>
            </a:r>
            <a:br/>
            <a:r>
              <a:t>CASE — 正常运行加密（基于 NOC 证书）</a:t>
            </a:r>
            <a:br/>
            <a:r>
              <a:t>设备认证 — DAC/PAI/PAA 证书链验证</a:t>
            </a:r>
            <a:br/>
            <a:r>
              <a:t>GKM — Group Key Management 组密钥管理</a:t>
            </a:r>
            <a:br/>
            <a:r>
              <a:t>DCL — Distributed Compliance Ledger 分布式合规账本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286000"/>
            <a:ext cx="548640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331720"/>
            <a:ext cx="539496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Matter 完整安全链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8892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硬件信任根 → 安全启动 → 动态证书 → 加密通信 → ACL权限控制 → DCL全局验证</a:t>
            </a:r>
            <a:br/>
            <a:br/>
            <a:r>
              <a:t>• 硬件信任根：安全芯片固化密钥 (Secure Enclave)</a:t>
            </a:r>
            <a:br/>
            <a:r>
              <a:t>• 安全启动：Bootloader ECDSA 验证固件签名</a:t>
            </a:r>
            <a:br/>
            <a:r>
              <a:t>• 动态证书：DAC (出厂) + NOC (配网时签发)</a:t>
            </a:r>
            <a:br/>
            <a:r>
              <a:t>• 加密通信：AES-128-CCM + 消息计数器防重放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124712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617720"/>
            <a:ext cx="1115568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Matter 安全设计原则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信任根 (Root of Trust): 每个设备/系统都有一个不可伪造的信任根，所有安全决策来源于此</a:t>
            </a:r>
            <a:br/>
            <a:r>
              <a:t>分层验证 (Layered Verification): 从制造到操作，多个独立层进行验证 (DAC链 → NOC链)</a:t>
            </a:r>
            <a:br/>
            <a:r>
              <a:t>最小权限 (Least Privilege): 每个主体仅拥有完成其任务所需的最小权限 (ACL/CAT)</a:t>
            </a:r>
            <a:br/>
            <a:r>
              <a:t>防御深度 (Defense in Depth): 多层防御机制，即使一层被突破，整体系统仍安全</a:t>
            </a:r>
            <a:br/>
            <a:r>
              <a:t>加密敏捷 (Crypto Agility): 支持算法升级，应对未来安全威胁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02  核心术语定义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731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缩写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全称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角色定位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Product Attestation Authority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产品认证机构，整个 Matter 设备认证体系的最高层级信任根 (Root of Trust)，由 CSA 审核，负责签发 PAI 证书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Product Attestation 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产品认证中间证书，由 PAA 颁发给设备厂商，位于证书链中间层，用于签署 DAC 证书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Device Attestation Certificate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设备认证证书，设备出厂时烧录的"出生证明"，独一无二且不可伪造，用于证明是合法 Matter 设备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Node Operational Certificate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节点操作证书，设备加入特定 Fabric 后获得的"数字身份证"，用于日常通信和身份验证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Certification Declaration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认证声明，由 CSA CD Signing Key 签名，证明设备已通过 Matter 认证测试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Distributed Compliance Ledger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分布式合规账本，CSA 成员节点共识维护，存储证书吊销列表和合规状态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CSR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Certificate Signing Request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证书签名请求，配网阶段设备提交给 Commissioner，用于生成 NOC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02  三层证书链架构：PAA → PAI → DAC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6675120" cy="10058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23444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PAA — Product Attestation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信任根 (Root of Trust) · 每个厂商 1 个 · CSA 审核 · HSM 离线保护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▼ signs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560320"/>
            <a:ext cx="6675120" cy="1005840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PAI — Product Attestation Intermediate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中间证书 · 按产品/型号区分 · 包含 VID + PID · 批量签发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5C8A"/>
                </a:solidFill>
                <a:latin typeface="Microsoft YaHei"/>
              </a:defRPr>
            </a:pPr>
            <a:r>
              <a:t>▼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931920"/>
            <a:ext cx="6675120" cy="1005840"/>
          </a:xfrm>
          <a:prstGeom prst="round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977639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DAC — Device Attestation Certificate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976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设备唯一 · 每台设备 1 个 · 私钥永不离开安全区域 · 用于签名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530352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257800"/>
            <a:ext cx="521208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验证核心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① AKID → SKID 链：DAC.AKID → PAI.SKID → PAA.SKID</a:t>
            </a:r>
            <a:br/>
            <a:r>
              <a:t>② 数字签名链：每级证书的签名由上级私钥签署</a:t>
            </a:r>
            <a:br/>
            <a:r>
              <a:t>③ VID/PID 一致性：身份信息在整链中保持一致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212080"/>
            <a:ext cx="54864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5257800"/>
            <a:ext cx="539496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Commissioner 端操作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150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Commissioner 必须拥有 PAA 信任库</a:t>
            </a:r>
            <a:br/>
            <a:r>
              <a:t>通过 PAI 的 AKID 查找对应 PAA 证书</a:t>
            </a:r>
            <a:br/>
            <a:r>
              <a:t>逐级验证签名：PAA公钥验PAI → PAI公钥验DAC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03  PAA / PAI / DAC 证书结构与字段详解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6576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5661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PAA 证书 (Root CA)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Subject:   CN=Matter PAA, VID=FFF1</a:t>
            </a:r>
            <a:br/>
            <a:r>
              <a:t>Issuer:    Self-signed</a:t>
            </a:r>
            <a:br/>
            <a:r>
              <a:t>Validity:  长期有效 (9999-12-31)</a:t>
            </a:r>
            <a:br/>
            <a:r>
              <a:t>PubKey:    ECDSA P-256</a:t>
            </a:r>
            <a:br/>
            <a:br/>
            <a:r>
              <a:t>Extensions:</a:t>
            </a:r>
            <a:br/>
            <a:r>
              <a:t>  Basic Constraints: CA:TRUE, pathlen:1</a:t>
            </a:r>
            <a:br/>
            <a:r>
              <a:t>  Key Usage: keyCertSign, cRLSign</a:t>
            </a:r>
            <a:br/>
            <a:r>
              <a:t>  SKID = AKID (自签名)</a:t>
            </a:r>
            <a:br/>
            <a:r>
              <a:t>  Matter OID 1.1 → Vendor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356616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PAI 证书 (Intermediate 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Subject:   CN=Matter PAI, VID=FFF1</a:t>
            </a:r>
            <a:br/>
            <a:r>
              <a:t>Issuer:    PAA (signed by PAA key)</a:t>
            </a:r>
            <a:br/>
            <a:r>
              <a:t>Validity:  2022-02-05 ~ 9999-12-31</a:t>
            </a:r>
            <a:br/>
            <a:r>
              <a:t>PubKey:    ECDSA P-256</a:t>
            </a:r>
            <a:br/>
            <a:br/>
            <a:r>
              <a:t>Extensions:</a:t>
            </a:r>
            <a:br/>
            <a:r>
              <a:t>  Basic Constraints: CA:TRUE, pathlen:0</a:t>
            </a:r>
            <a:br/>
            <a:r>
              <a:t>  Key Usage: keyCertSign</a:t>
            </a:r>
            <a:br/>
            <a:r>
              <a:t>  AKID → PAA.SKID (链接到 PAA)</a:t>
            </a:r>
            <a:br/>
            <a:r>
              <a:t>  Matter OID 1.2 → Product ID (可选)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188720"/>
            <a:ext cx="36576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0999" y="1234440"/>
            <a:ext cx="356616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DAC 证书 (Leaf)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69164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Subject:   CN=Matter DAC, VID=FFF1, PID=8010</a:t>
            </a:r>
            <a:br/>
            <a:r>
              <a:t>Issuer:    PAI (signed by PAI key)</a:t>
            </a:r>
            <a:br/>
            <a:r>
              <a:t>Validity:  2022-03-31 ~ 9999-12-31</a:t>
            </a:r>
            <a:br/>
            <a:r>
              <a:t>PubKey:    ECDSA P-256</a:t>
            </a:r>
            <a:br/>
            <a:br/>
            <a:r>
              <a:t>Extensions:</a:t>
            </a:r>
            <a:br/>
            <a:r>
              <a:t>  Basic Constraints: CA:FALSE</a:t>
            </a:r>
            <a:br/>
            <a:r>
              <a:t>  Key Usage: digitalSignature</a:t>
            </a:r>
            <a:br/>
            <a:r>
              <a:t>  EKU: clientAuth</a:t>
            </a:r>
            <a:br/>
            <a:r>
              <a:t>  AKID → PAI.SKID (链接到 PAI)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SKID / AKID 链式关系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11247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PAA (Root)                                  PAI (Intermediate)                           DAC (Leaf)</a:t>
            </a:r>
            <a:br/>
            <a:r>
              <a:t>  SKID: 6A:FD:22:77:...                        SKID: 63:54:0E:47:...                        SKID: 32:FC:27:D1:...</a:t>
            </a:r>
            <a:br/>
            <a:r>
              <a:t>  AKID: 6A:FD:22:77:...  ← 自签名             AKID: 6A:FD:22:77:...  ← 指向 PAA.SKID       AKID: 63:54:0E:47:...  ← 指向 PAI.SKID</a:t>
            </a:r>
            <a:br/>
            <a:br/>
            <a:r>
              <a:t>验证链:  PAA.AKID == PAA.SKID (√自签名)   →   PAI.AKID == PAA.SKID (√匹配)   →   DAC.AKID == PAI.SKID (√匹配)</a:t>
            </a:r>
            <a:br/>
            <a:r>
              <a:t>签名链:  PAA 自签名 √                       →   PAA公钥验PAI签名 √               →   PAI公钥验DAC签名 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04  PAA / PAI / DAC 特征对比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特性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PAA (Root)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PAI (Intermediate)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DAC (Leaf)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证书类型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Root CA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Intermediate CA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Leaf / End Entity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每个厂商 1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每个产品系列 1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每台设备 1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存储位置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Commissioner 信任库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设备固件 Flash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设备安全元件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私钥存储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HSM / 离线 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安全工厂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 SE / 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私钥可导出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是 (随设备)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证书可读，私钥绝不可导出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包含 VID/PID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Vendor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Vendor ID + Product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Vendor ID + Product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 Usage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keyCertSign, cRLSign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keyCertSign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digitalSignature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Basic Constraints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CA:TRUE, pathlen:1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CA:TRUE, pathlen:0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CA:FALSE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Issuer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Self-signed / CSA Root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签发 PAI 证书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签发 DAC 证书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设备身份认证 &amp; 签名 Attestation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5029200"/>
            <a:ext cx="11612880" cy="1554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507492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证书链验证的三大核心依赖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AKID → SKID 链：DAC.AKID → PAI.SKID，PAI.AKID → PAA.SKID — 逐级精确匹配才能建立信任</a:t>
            </a:r>
            <a:br/>
            <a:r>
              <a:t>2. 数字签名链：每级证书的签名由上级私钥签署 — PAA公钥验PAI → PAI公钥验DAC</a:t>
            </a:r>
            <a:br/>
            <a:r>
              <a:t>3. 身份信息一致性：VID / PID 在整链保持一致，并与 BasicInfoCluster 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05  Commissioning（入网）整体流程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188720"/>
            <a:ext cx="182880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设备发现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2057400"/>
            <a:ext cx="18288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mDNS 广播</a:t>
            </a:r>
            <a:br/>
            <a:r>
              <a:t>二维码/PIN 凭证</a:t>
            </a:r>
            <a:br/>
            <a:r>
              <a:t>控制器发现设备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188720"/>
            <a:ext cx="182880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PASE 安全会话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057400"/>
            <a:ext cx="18288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PAKE 密码认证</a:t>
            </a:r>
            <a:br/>
            <a:r>
              <a:t>建立临时加密通道</a:t>
            </a:r>
            <a:br/>
            <a:r>
              <a:t>防止中间人攻击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188720"/>
            <a:ext cx="1828800" cy="36576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5C8A"/>
                </a:solidFill>
                <a:latin typeface="Microsoft YaHei"/>
              </a:defRPr>
            </a:pPr>
            <a:r>
              <a:t>DAC 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057400"/>
            <a:ext cx="18288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设备提交 DAC/PAI</a:t>
            </a:r>
            <a:br/>
            <a:r>
              <a:t>证书链验证签名</a:t>
            </a:r>
            <a:br/>
            <a:r>
              <a:t>Nonce 防重放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188720"/>
            <a:ext cx="1828800" cy="36576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A8C3F"/>
                </a:solidFill>
                <a:latin typeface="Microsoft YaHei"/>
              </a:defRPr>
            </a:pPr>
            <a:r>
              <a:t>分配凭据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057400"/>
            <a:ext cx="18288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签发 NOC 操作证书</a:t>
            </a:r>
            <a:br/>
            <a:r>
              <a:t>分配节点 ID</a:t>
            </a:r>
            <a:br/>
            <a:r>
              <a:t>加入 Fabric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1188720"/>
            <a:ext cx="182880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网络配置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2057400"/>
            <a:ext cx="18288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Wi-Fi / Thread 配置</a:t>
            </a:r>
            <a:br/>
            <a:r>
              <a:t>Fail-safe 机制</a:t>
            </a:r>
            <a:br/>
            <a:r>
              <a:t>持久化密钥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1188720"/>
            <a:ext cx="18288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CASE 会话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2057400"/>
            <a:ext cx="18288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基于 NOC 证书认证</a:t>
            </a:r>
            <a:br/>
            <a:r>
              <a:t>ECDH 协商密钥</a:t>
            </a:r>
            <a:br/>
            <a:r>
              <a:t>日常加密通信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" y="3383280"/>
            <a:ext cx="116128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342900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520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Commissioning 关键安全机制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3886200"/>
            <a:ext cx="11247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PASE (配网阶段):</a:t>
            </a:r>
            <a:br/>
            <a:r>
              <a:t>  • 基于 PAKE 协议，通过共享密码 (PIN/二维码) 进行密钥交换</a:t>
            </a:r>
            <a:br/>
            <a:r>
              <a:t>  • 建立临时安全会话，保护配网过程中的数据传输</a:t>
            </a:r>
            <a:br/>
            <a:br/>
            <a:r>
              <a:t>CASE (运行阶段):</a:t>
            </a:r>
            <a:br/>
            <a:r>
              <a:t>  • 基于 NOC 证书进行身份认证</a:t>
            </a:r>
            <a:br/>
            <a:r>
              <a:t>  • ECDH 协商长期会话密钥，用于日常通信</a:t>
            </a:r>
            <a:br/>
            <a:br/>
            <a:r>
              <a:t>DAC 验证 (Commissioning 核心环节):</a:t>
            </a:r>
            <a:br/>
            <a:r>
              <a:t>  • 设备必须提交完整的证书链 (DAC → PAI → PAA)</a:t>
            </a:r>
            <a:br/>
            <a:r>
              <a:t>  • Commissioner 验证证书链签名、VID/PID 一致性、Nonce 匹配</a:t>
            </a:r>
            <a:br/>
            <a:r>
              <a:t>  • 可选查询 DCL 验证设备合规性和吊销状态</a:t>
            </a:r>
            <a:br/>
            <a:r>
              <a:t>  • 验证通过后，才签发 NOC 操作证书 — 这是整个配网流程的安全门禁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06  PASE vs CASE 协议对比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93776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特性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PASE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CASE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全称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Password Authenticated Session Est.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Certificate Authenticated Session Est.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使用场景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配网 (Commissioning) 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正常数据通信阶段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认证方式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基于密码/PIN 码的身份验证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基于证书的身份验证 (NOC/X.509)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密钥交换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PAKE (基于密码的认证密钥交换)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ECDH + 证书认证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加密算法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AES-128-CCM (会话层)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AES-128-CCM (会话层)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安全级别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适用于短期通信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基于 PKI 的更高安全性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消息序列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PBKDFParam + PASE_Pake1/2/3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CASE_Sigma1/2/3 + Sigma2Resume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协议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0x0000_0002 (Secure Channel)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0x0000_0002 (Secure Channel)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持续时间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仅配网期间 (数秒到数分钟)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整个设备生命周期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572000"/>
            <a:ext cx="548640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61772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PASE 工作流程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密码验证：通过 PAKE 协议验证彼此身份</a:t>
            </a:r>
            <a:br/>
            <a:r>
              <a:t>2. 密钥协商：协商出临时会话密钥</a:t>
            </a:r>
            <a:br/>
            <a:r>
              <a:t>3. 安全会话：通过加密通道进行配网操作</a:t>
            </a:r>
            <a:br/>
            <a:r>
              <a:t>   设备添加到 Fabric → DAC 验证 → 签发 NOC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572000"/>
            <a:ext cx="57607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617720"/>
            <a:ext cx="566928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709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CASE 工作流程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07492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Sigma1：发起方发送 initiator_random + ephemeral_pk</a:t>
            </a:r>
            <a:br/>
            <a:r>
              <a:t>2. Sigma2：响应方返回 NOC + ICAC + signature + ephemeral_pk</a:t>
            </a:r>
            <a:br/>
            <a:r>
              <a:t>3. Sigma3：发起方发送 NOC + ICAC + signature</a:t>
            </a:r>
            <a:br/>
            <a:r>
              <a:t>4. 双方验证 NOC 证书链到 PAA → ECDH 协商会话密钥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07  Attestation 请求/响应 TLV 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4864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Attestation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AttestationRequest: {</a:t>
            </a:r>
            <a:br/>
            <a:r>
              <a:t>    attestation_nonce: octet_string,  // [Tag 1]</a:t>
            </a:r>
            <a:br/>
            <a:r>
              <a:t>                              // 32 bytes CSPRNG 随机数</a:t>
            </a:r>
            <a:br/>
            <a:r>
              <a:t>}</a:t>
            </a:r>
            <a:br/>
            <a:br/>
            <a:r>
              <a:t>Nonce 必须由 Commissioner 生成</a:t>
            </a:r>
            <a:br/>
            <a:r>
              <a:t>每次认证唯一 (32 bytes CSPRNG)</a:t>
            </a:r>
            <a:br/>
            <a:r>
              <a:t>防止重放攻击的核心机制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760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6928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Attestation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AttestationResponse: {</a:t>
            </a:r>
            <a:br/>
            <a:r>
              <a:t>    attestation_elements: structure {     // [Tag 1]</a:t>
            </a:r>
            <a:br/>
            <a:r>
              <a:t>        certification_declaration: ...    // CMS signed CD</a:t>
            </a:r>
            <a:br/>
            <a:r>
              <a:t>        attestation_nonce: ...            // 与 Request 相同</a:t>
            </a:r>
            <a:br/>
            <a:r>
              <a:t>        timestamp: integer                // UNIX epoch</a:t>
            </a:r>
            <a:br/>
            <a:r>
              <a:t>        firmware_info: ...                // (可选)</a:t>
            </a:r>
            <a:br/>
            <a:r>
              <a:t>    },</a:t>
            </a:r>
            <a:br/>
            <a:r>
              <a:t>    dac_cert: octet_string,               // [Tag 2] DAC DER</a:t>
            </a:r>
            <a:br/>
            <a:r>
              <a:t>    pai_cert: octet_string,               // [Tag 3] PAI DER</a:t>
            </a:r>
            <a:br/>
            <a:r>
              <a:t>    signature: octet_string,              // [Tag 4] ECDSA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749039"/>
            <a:ext cx="5486400" cy="2834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794759"/>
            <a:ext cx="539496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1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关键安全约束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59"/>
            <a:ext cx="5120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attestation_nonce:</a:t>
            </a:r>
            <a:br/>
            <a:r>
              <a:t>  必须由 Commissioner 生成，每次认证唯一</a:t>
            </a:r>
            <a:br/>
            <a:br/>
            <a:r>
              <a:t>timestamp:</a:t>
            </a:r>
            <a:br/>
            <a:r>
              <a:t>  用于验证设备时钟合理性 (防重放辅助)</a:t>
            </a:r>
            <a:br/>
            <a:br/>
            <a:r>
              <a:t>signature:</a:t>
            </a:r>
            <a:br/>
            <a:r>
              <a:t>  SHA256(attestation_elements || attestation_challenge)</a:t>
            </a:r>
            <a:br/>
            <a:r>
              <a:t>  使用 DAC 私钥签名 (ECDSA P-256)</a:t>
            </a:r>
            <a:br/>
            <a:br/>
            <a:r>
              <a:t>attestation_challenge:</a:t>
            </a:r>
            <a:br/>
            <a:r>
              <a:t>  来自安全会话的挑战值，绑定到当前会话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663440"/>
            <a:ext cx="576072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709160"/>
            <a:ext cx="566928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时序流程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16636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Commissioner                        Device</a:t>
            </a:r>
            <a:br/>
            <a:r>
              <a:t>  │ 生成 attestation_nonce              │</a:t>
            </a:r>
            <a:br/>
            <a:r>
              <a:t>  │── Attestation Request ────────────&gt;│</a:t>
            </a:r>
            <a:br/>
            <a:r>
              <a:t>  │   { attestation_nonce }            │</a:t>
            </a:r>
            <a:br/>
            <a:r>
              <a:t>  │                                    │ 构造 Elements</a:t>
            </a:r>
            <a:br/>
            <a:r>
              <a:t>  │                                    │ 签名 (DAC私钥)</a:t>
            </a:r>
            <a:br/>
            <a:r>
              <a:t>  │&lt;── Attestation Response ───────────│</a:t>
            </a:r>
            <a:br/>
            <a:r>
              <a:t>  │   { elements, certs, signature }   │</a:t>
            </a:r>
            <a:br/>
            <a:r>
              <a:t>  │                                    │</a:t>
            </a:r>
            <a:br/>
            <a:r>
              <a:t>  │ 验证证书链 + 签名 + Nonce       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08  证书链验证 — 6 大步骤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188720"/>
            <a:ext cx="182880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提取证书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2057400"/>
            <a:ext cx="1828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从 Attestation Response</a:t>
            </a:r>
            <a:br/>
            <a:r>
              <a:t>提取 DAC cert + PAI cert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188720"/>
            <a:ext cx="182880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格式验证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057400"/>
            <a:ext cx="1828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验证 X.509 格式</a:t>
            </a:r>
            <a:br/>
            <a:r>
              <a:t>Matter OID 扩展</a:t>
            </a:r>
            <a:br/>
            <a:r>
              <a:t>Basic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188720"/>
            <a:ext cx="1828800" cy="36576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5C8A"/>
                </a:solidFill>
                <a:latin typeface="Microsoft YaHei"/>
              </a:defRPr>
            </a:pPr>
            <a:r>
              <a:t>VID/PID 一致性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057400"/>
            <a:ext cx="1828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DAC.VID == PAI.VID</a:t>
            </a:r>
            <a:br/>
            <a:r>
              <a:t>DAC.PID == PAI.PID</a:t>
            </a:r>
            <a:br/>
            <a:r>
              <a:t>与 BasicInfo交叉验证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188720"/>
            <a:ext cx="1828800" cy="36576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A8C3F"/>
                </a:solidFill>
                <a:latin typeface="Microsoft YaHei"/>
              </a:defRPr>
            </a:pPr>
            <a:r>
              <a:t>PAA 查找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057400"/>
            <a:ext cx="1828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从 PAI 提取 AKID</a:t>
            </a:r>
            <a:br/>
            <a:r>
              <a:t>在 PAA 信任库中</a:t>
            </a:r>
            <a:br/>
            <a:r>
              <a:t>查找匹配的 PAA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1188720"/>
            <a:ext cx="182880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签名链验证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2057400"/>
            <a:ext cx="1828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PAA公钥 → 验 PAI签名</a:t>
            </a:r>
            <a:br/>
            <a:r>
              <a:t>PAI公钥 → 验 DAC签名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468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000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1188720"/>
            <a:ext cx="18288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吊销检查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2057400"/>
            <a:ext cx="18288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21031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DCL 中检查</a:t>
            </a:r>
            <a:br/>
            <a:r>
              <a:t>DAC/PAI 吊销状态</a:t>
            </a:r>
            <a:br/>
            <a:r>
              <a:t>(生产必须启用)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" y="3383280"/>
            <a:ext cx="54864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3429000"/>
            <a:ext cx="539496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SDK 错误码映射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38862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CertificateChainValidationResult → AttestationResult</a:t>
            </a:r>
            <a:br/>
            <a:br/>
            <a:r>
              <a:t>kRootFormatInvalid → kPaaFormatInvalid (105)</a:t>
            </a:r>
            <a:br/>
            <a:r>
              <a:t>kICAFormatInvalid  → kPaiFormatInvalid (203)</a:t>
            </a:r>
            <a:br/>
            <a:r>
              <a:t>kLeafFormatInvalid → kDacFormatInvalid (303)</a:t>
            </a:r>
            <a:br/>
            <a:r>
              <a:t>kChainInvalid      → kDacSignatureInvalid (301)</a:t>
            </a:r>
            <a:br/>
            <a:r>
              <a:t>kNoMemory          → kNoMemory (700)</a:t>
            </a:r>
            <a:br/>
            <a:r>
              <a:t>kInternalFrameworkError → kInternalError (702)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3383280"/>
            <a:ext cx="59436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3429000"/>
            <a:ext cx="585216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520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验证成功条件 (全部满足)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88620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✓ 所有证书格式正确 (X.509 + Matter OID + Key Usage)</a:t>
            </a:r>
            <a:br/>
            <a:r>
              <a:t>✓ VID/PID 全链一致 (DAC = PAI = PAA = BasicInfo)</a:t>
            </a:r>
            <a:br/>
            <a:r>
              <a:t>✓ PAA 在 Commissioner 信任库中找到</a:t>
            </a:r>
            <a:br/>
            <a:r>
              <a:t>✓ 证书链签名验证通过 (PAA→PAI→DAC)</a:t>
            </a:r>
            <a:br/>
            <a:r>
              <a:t>✓ Attestation Signature 验证通过</a:t>
            </a:r>
            <a:br/>
            <a:r>
              <a:t>✓ Nonce 匹配 (32 bytes 完全一致)</a:t>
            </a:r>
            <a:br/>
            <a:r>
              <a:t>✓ CD CMS 签名验证通过 (如启用)</a:t>
            </a:r>
            <a:br/>
            <a:r>
              <a:t>✓ 吊销检查通过 (DCL, 生产环境)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" y="5852160"/>
            <a:ext cx="1161288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2880" y="589788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Attestation 验证总览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355080"/>
            <a:ext cx="112471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AttestationInfo → [Step1 提取] → [Step2 格式] → [Step3 VID/PID] → [Step4 查找PAA] → [Step5 签名链] → [Step6 吊销] → kSuccess / kError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09  ECDSA 签名验证细节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4864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签名消息构造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message_to_sign = SHA256(</a:t>
            </a:r>
            <a:br/>
            <a:r>
              <a:t>    attestation_elements ||   // TLV 编码结构体</a:t>
            </a:r>
            <a:br/>
            <a:r>
              <a:t>    attestation_challenge     // 安全会话挑战</a:t>
            </a:r>
            <a:br/>
            <a:r>
              <a:t>)</a:t>
            </a:r>
            <a:br/>
            <a:br/>
            <a:r>
              <a:t>signature = ECDSA_Sign(</a:t>
            </a:r>
            <a:br/>
            <a:r>
              <a:t>    message_to_sign,</a:t>
            </a:r>
            <a:br/>
            <a:r>
              <a:t>    DAC_Private_Key</a:t>
            </a:r>
            <a:br/>
            <a:r>
              <a:t>)  // 使用 NIST P-256 曲线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7607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6928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SDK 签名验证实现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CHIP_ERROR ValidateAttestationSignature(</a:t>
            </a:r>
            <a:br/>
            <a:r>
              <a:t>  const P256PublicKey &amp; pubkey,          // DAC 公钥</a:t>
            </a:r>
            <a:br/>
            <a:r>
              <a:t>  const ByteSpan &amp; attestationElements,  // TLV</a:t>
            </a:r>
            <a:br/>
            <a:r>
              <a:t>  const ByteSpan &amp; attestationChallenge, // 会话挑战</a:t>
            </a:r>
            <a:br/>
            <a:r>
              <a:t>  const P256ECDSASignature &amp; signature)  // 签名</a:t>
            </a:r>
            <a:br/>
            <a:r>
              <a:t>{</a:t>
            </a:r>
            <a:br/>
            <a:r>
              <a:t>  // 1. SHA256(elements || challenge)</a:t>
            </a:r>
            <a:br/>
            <a:r>
              <a:t>  // 2. pubkey.ECDSA_validate_hash_signature()</a:t>
            </a:r>
            <a:br/>
            <a:r>
              <a:t>}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36576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6126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错误码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可能原因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kAttestationSignatureInvalid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签名验证失败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私钥不匹配、消息被篡改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kAttestationSignatureInvalidFormat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签名格式错误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算法不匹配、密钥类型错误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kAttestationNonceMismatch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Nonce 不匹配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设备使用了错误的 nonce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kAttestationElementsMalformed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Elements 格式错误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TLV 编码错误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kDacFormatInvalid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格式错误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X.509 格式不符合规范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kDacVendorIdMismatch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VID 不匹配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与 PAI 的 Vendor ID 不一致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kCertificationDeclarationInvalidSignature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CD 签名无效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CMS 签名验证失败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10  Nonce 机制与安全考量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4864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Nonce 防止的攻击类型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重放攻击 (Replay Attack):</a:t>
            </a:r>
            <a:br/>
            <a:r>
              <a:t>  每次认证使用不同 nonce，旧的 Response 无法重放</a:t>
            </a:r>
            <a:br/>
            <a:br/>
            <a:r>
              <a:t>预计算攻击 (Pre-computation):</a:t>
            </a:r>
            <a:br/>
            <a:r>
              <a:t>  攻击者无法预先计算签名，因为 nonce 不可预测</a:t>
            </a:r>
            <a:br/>
            <a:br/>
            <a:r>
              <a:t>中间人攻击 (MITM):</a:t>
            </a:r>
            <a:br/>
            <a:r>
              <a:t>  Nonce 绑定到 attestation_challenge，</a:t>
            </a:r>
            <a:br/>
            <a:r>
              <a:t>  替换 nonce 会导致签名验证失败</a:t>
            </a:r>
            <a:br/>
            <a:br/>
            <a:r>
              <a:t>伪造签名攻击:</a:t>
            </a:r>
            <a:br/>
            <a:r>
              <a:t>  必须对包含新 nonce 的消息重新签名，</a:t>
            </a:r>
            <a:br/>
            <a:r>
              <a:t>  没有 DAC 私钥无法完成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7607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6928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Nonce 要求与代码示例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长度: 32 bytes (kExpectedAttestationNonceSize)</a:t>
            </a:r>
            <a:br/>
            <a:r>
              <a:t>随机性: 密码学安全随机数生成器 (CSPRNG)</a:t>
            </a:r>
            <a:br/>
            <a:r>
              <a:t>唯一性: 每次认证请求使用新 nonce</a:t>
            </a:r>
            <a:br/>
            <a:br/>
            <a:r>
              <a:t>// Commissioner 端生成 nonce</a:t>
            </a:r>
            <a:br/>
            <a:r>
              <a:t>constexpr size_t kNonceSize = 32;</a:t>
            </a:r>
            <a:br/>
            <a:r>
              <a:t>uint8_t attestation_nonce[kNonceSize];</a:t>
            </a:r>
            <a:br/>
            <a:r>
              <a:t>CHIP_ERROR err = DRBG_get_bytes(</a:t>
            </a:r>
            <a:br/>
            <a:r>
              <a:t>    attestation_nonce, sizeof(attestation_nonce));</a:t>
            </a:r>
            <a:br/>
            <a:br/>
            <a:r>
              <a:t>// 验证 nonce 匹配</a:t>
            </a:r>
            <a:br/>
            <a:r>
              <a:t>if (memcmp(requested, received, 32) != 0)</a:t>
            </a:r>
            <a:br/>
            <a:r>
              <a:t>  return kAttestationNonceMismatch;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416052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Nonce 工作流程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11247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Commissioner (chip-tool/App)                                  Device (Matter Node)</a:t>
            </a:r>
            <a:br/>
            <a:r>
              <a:t>  │ 1. 使用 DRBG 生成 32 bytes 随机 nonce                          │</a:t>
            </a:r>
            <a:br/>
            <a:r>
              <a:t>  │                                                               │</a:t>
            </a:r>
            <a:br/>
            <a:r>
              <a:t>  │─── 2. Attestation Request ──────────────────────────────────&gt;│</a:t>
            </a:r>
            <a:br/>
            <a:r>
              <a:t>  │    { attestation_nonce }                                      │</a:t>
            </a:r>
            <a:br/>
            <a:r>
              <a:t>  │                                                               │</a:t>
            </a:r>
            <a:br/>
            <a:r>
              <a:t>  │                           3. 设备将 nonce 包含在 Attestation Elements 中</a:t>
            </a:r>
            <a:br/>
            <a:r>
              <a:t>  │                           TLV Structure { CD, nonce, timestamp, ... }</a:t>
            </a:r>
            <a:br/>
            <a:r>
              <a:t>  │                           设备用 DAC 私钥对 SHA256(elements || challenge) 签名</a:t>
            </a:r>
            <a:br/>
            <a:r>
              <a:t>  │                                                               │</a:t>
            </a:r>
            <a:br/>
            <a:r>
              <a:t>  │&lt;─── 4. Attestation Response ──────────────────────────────────│</a:t>
            </a:r>
            <a:br/>
            <a:r>
              <a:t>  │    { attestation_elements, signature, dac_cert, pai_cert }    │</a:t>
            </a:r>
            <a:br/>
            <a:r>
              <a:t>  │                                                               │</a:t>
            </a:r>
            <a:br/>
            <a:r>
              <a:t>  │ 5. Commissioner 验证 nonce 一致性                              │</a:t>
            </a:r>
            <a:br/>
            <a:r>
              <a:t>  │    requested_nonce == received_nonce ? 继续 : 拒绝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11  Certification Declaration (CD)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4864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CD 的作用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Certification Declaration 证明设备已通过 CSA 认证:</a:t>
            </a:r>
            <a:br/>
            <a:br/>
            <a:r>
              <a:t>• CMS 签名：使用 CSA 的 CD Signing Key 签名</a:t>
            </a:r>
            <a:br/>
            <a:r>
              <a:t>• 内容包含：</a:t>
            </a:r>
            <a:br/>
            <a:r>
              <a:t>  - Vendor ID + Product ID 列表</a:t>
            </a:r>
            <a:br/>
            <a:r>
              <a:t>  - 认证类型 (Development / Provisional / Official)</a:t>
            </a:r>
            <a:br/>
            <a:r>
              <a:t>  - 允许的 PAA (可选)</a:t>
            </a:r>
            <a:br/>
            <a:r>
              <a:t>  - 设备类型 ID、安全等级、CSA 版本号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7607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6928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CD 验证流程 (7 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从 CMS Envelope 提取 Key ID (kid)</a:t>
            </a:r>
            <a:br/>
            <a:r>
              <a:t>2. 根据 Key ID 查找 CSA CD 验证公钥</a:t>
            </a:r>
            <a:br/>
            <a:r>
              <a:t>3. 验证 CMS 签名 (ECDSA)</a:t>
            </a:r>
            <a:br/>
            <a:r>
              <a:t>4. 解析 CD 内容 (protobuf)</a:t>
            </a:r>
            <a:br/>
            <a:r>
              <a:t>5. 验证 VID 一致性 (CD.vendor_id == DAC.vid)</a:t>
            </a:r>
            <a:br/>
            <a:r>
              <a:t>6. 验证 PID 在 CD 允许的产品列表中</a:t>
            </a:r>
            <a:br/>
            <a:r>
              <a:t>7. 如果 CD 有 Authorized PAA List，验证 PAA 匹配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365760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format_version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uint8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格式版本 (当前为 1)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vendor_id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uint16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厂商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product_ids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array&lt;uint16&gt;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产品 ID 列表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device_type_id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uint32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设备类型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certificate_id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 ID (CSA 分配)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security_level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安全级别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version_number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uint16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CD 版本号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certification_type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0=Dev/Test, 1=Provisional, 2=Official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authorized_paa_list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array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(可选) 允许的 PAA 列表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571500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生产环境关键配置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SDK 内置测试用 CD 签名公钥 (gTestCdPubkeyBytes)，生产环境必须禁用: EnableCdTestKeySupport(false)</a:t>
            </a:r>
            <a:br/>
            <a:r>
              <a:t>CD 的 CMS 签名验证确保 (VID, PID) 对已通过 CSA 的 Matter 认证测试流程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12  VID/PID 一致性校验 + SDK 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66344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检查项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失败错误码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DAC.VID == PAI.VID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与 PAI 的 Vendor ID 必须一致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kDacVendorIdMismatch (305)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DAC.PID == PAI.PID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与 PAI 的 Product ID 必须一致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kDacProductIdMismatch (306)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DAC.VID == PAA.VID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与 PAA 的 Vendor ID 必须一致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kPaiVendorIdMismatch (205)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DAC.VID == CD.VID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与 Certification Declaration 的 VID 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kCDInvalidVendorId (604)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DAC.PID in CD.product_ids[]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PID 必须在 CD 的允许列表中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kCDInvalidProductId (605)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DAC.VID/PID == BasicInfoCluster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证书中的 VID/PID 与设备上报的 BasicInfo 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vendor/product 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3383280"/>
            <a:ext cx="116128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429000"/>
            <a:ext cx="1152144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SDK 中的 VID/PID 提取与验证代码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1247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// Step 1: 从 X.509 证书中提取 VID/PID</a:t>
            </a:r>
            <a:br/>
            <a:r>
              <a:t>AttestationCertVidPid dacVidPid, paiVidPid;</a:t>
            </a:r>
            <a:br/>
            <a:r>
              <a:t>ExtractVIDPIDFromX509Cert(info.dacDerBuffer, dacVidPid);  // 解析 DAC 中的 Matter OID 1.1/1.2</a:t>
            </a:r>
            <a:br/>
            <a:r>
              <a:t>ExtractVIDPIDFromX509Cert(info.paiDerBuffer, paiVidPid);  // 解析 PAI 中的 Matter OID 1.1/1.2</a:t>
            </a:r>
            <a:br/>
            <a:br/>
            <a:r>
              <a:t>// Step 2: VID 交叉验证</a:t>
            </a:r>
            <a:br/>
            <a:r>
              <a:t>VerifyOrExit(paiVidPid.mVendorId == dacVidPid.mVendorId,</a:t>
            </a:r>
            <a:br/>
            <a:r>
              <a:t>             attestationError = kDacVendorIdMismatch);</a:t>
            </a:r>
            <a:br/>
            <a:br/>
            <a:r>
              <a:t>// Step 3: 与 Basic Information Cluster 交叉验证</a:t>
            </a:r>
            <a:br/>
            <a:r>
              <a:t>VerifyOrExit(deviceInfo.dacVendorId == deviceInfo.basicInfoVendorId,</a:t>
            </a:r>
            <a:br/>
            <a:r>
              <a:t>             attestationError = kVendorIdMismatch);</a:t>
            </a:r>
            <a:br/>
            <a:r>
              <a:t>VerifyOrExit(deviceInfo.dacProductId == deviceInfo.basicInfoProductId,</a:t>
            </a:r>
            <a:br/>
            <a:r>
              <a:t>             attestationError = kProductIdMismatch);</a:t>
            </a:r>
            <a:br/>
            <a:br/>
            <a:r>
              <a:t>// Step 4: PID 交叉验证 (如果 PAI 包含 PID)</a:t>
            </a:r>
            <a:br/>
            <a:r>
              <a:t>if (paiVidPid.mProductId != 0 &amp;&amp; dacVidPid.mProductId != paiVidPid.mProductId)</a:t>
            </a:r>
            <a:br/>
            <a:r>
              <a:t>    attestationError = kDacProductIdMismatch;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13  Silicon Labs NVM3 存储实现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4864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NVM3 Key 布局 (SilabsConfig.h)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kMatterNvm3KeyLoLimit = 0x087200U</a:t>
            </a:r>
            <a:br/>
            <a:r>
              <a:t>kMatterNvm3KeyHiLimit = 0x087FFFU</a:t>
            </a:r>
            <a:br/>
            <a:br/>
            <a:r>
              <a:t>关键 Key 映射:</a:t>
            </a:r>
            <a:br/>
            <a:r>
              <a:t>kConfigKey_Creds_KeyId       = 0x87220    // Creds key ID</a:t>
            </a:r>
            <a:br/>
            <a:r>
              <a:t>kConfigKey_Creds_Base_Addr   = 0x87221    // → 0x0817E000</a:t>
            </a:r>
            <a:br/>
            <a:r>
              <a:t>kConfigKey_Creds_DAC_Offset  = 0x87222    // DAC offset</a:t>
            </a:r>
            <a:br/>
            <a:r>
              <a:t>kConfigKey_Creds_DAC_Size    = 0x87223    // DAC size</a:t>
            </a:r>
            <a:br/>
            <a:r>
              <a:t>kConfigKey_Creds_PAI_Offset  = 0x87224    // PAI offset</a:t>
            </a:r>
            <a:br/>
            <a:r>
              <a:t>kConfigKey_Creds_PAI_Size    = 0x87225    // PAI size</a:t>
            </a:r>
            <a:br/>
            <a:r>
              <a:t>kConfigKey_Creds_CD_Offset   = 0x87226    // CD offset</a:t>
            </a:r>
            <a:br/>
            <a:r>
              <a:t>kConfigKey_Creds_CD_Size     = 0x87227    // CD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7607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6928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Flash 布局 (0x0817E000 起始)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Offset       Content</a:t>
            </a:r>
            <a:br/>
            <a:r>
              <a:t>─────────────────────────────</a:t>
            </a:r>
            <a:br/>
            <a:r>
              <a:t>0x0000       保留区域</a:t>
            </a:r>
            <a:br/>
            <a:r>
              <a:t>0x1000       DAC Certificate (DER, ~480B)</a:t>
            </a:r>
            <a:br/>
            <a:r>
              <a:t>0x1200       PAI Certificate (DER, ~470B)</a:t>
            </a:r>
            <a:br/>
            <a:r>
              <a:t>0x1400       CD (CMS Signed, ~245B)</a:t>
            </a:r>
            <a:br/>
            <a:r>
              <a:t>0x1700       DAC Private Key</a:t>
            </a:r>
            <a:br/>
            <a:r>
              <a:t>             (不在 NVM3，在 Secure Element)</a:t>
            </a:r>
            <a:br/>
            <a:br/>
            <a:r>
              <a:t>读取 NVM3:</a:t>
            </a:r>
            <a:br/>
            <a:r>
              <a:t>  commander nvm3 read -o nvm3.s37 \</a:t>
            </a:r>
            <a:br/>
            <a:r>
              <a:t>    --device efr32mg24 --range 0x8174000:0x817e000</a:t>
            </a:r>
            <a:br/>
            <a:r>
              <a:t>  commander nvm3 parse nvm3.s37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416052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生产注意事项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11247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⚠️ 不要修改 NVM3 Key 范围限制 (需 Silabs SiSDK 团队批准)</a:t>
            </a:r>
            <a:br/>
            <a:r>
              <a:t>⚠️ PAI 数据损坏会导致验签失败 — 需要正确写入 NVM3 对象</a:t>
            </a:r>
            <a:br/>
            <a:r>
              <a:t>⚠️ DAC 私钥应存储在安全元件 (SE) 中，不在 NVM3 中</a:t>
            </a:r>
            <a:br/>
            <a:r>
              <a:t>⚠️ NVM3 存储的是证书 (DER 编码) 和元数据，不包含私钥</a:t>
            </a:r>
            <a:br/>
            <a:r>
              <a:t>⚠️ 生产环境需要确保 NVM3 区域在 OTA 升级时不被擦除</a:t>
            </a:r>
            <a:br/>
            <a:r>
              <a:t>⚠️ 工厂烧录时必须验证证书数据完整性</a:t>
            </a:r>
            <a:br/>
            <a:r>
              <a:t>⚠️ 如果使用空芯片烧录 (aaa_empty.s37)，NVM3 区域为空，需要额外写入证书数据</a:t>
            </a:r>
            <a:br/>
            <a:r>
              <a:t>⚠️ last_page.s37 包含预先配置的证书数据，可直接烧录到设备中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14  SDK 接口 — DeviceAttestationCredentialsProvider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设备端 Provider 接口 (SDK 路径: src/credentials/DeviceAttestationCredsProvider.h)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class DeviceAttestationCredentialsProvider {</a:t>
            </a:r>
            <a:br/>
            <a:r>
              <a:t>public:</a:t>
            </a:r>
            <a:br/>
            <a:r>
              <a:t>    virtual CHIP_ERROR GetCertificationDeclaration(MutableByteSpan &amp; outCd);</a:t>
            </a:r>
            <a:br/>
            <a:r>
              <a:t>    virtual CHIP_ERROR GetFirmwareInformation(MutableByteSpan &amp; outFwInfo);</a:t>
            </a:r>
            <a:br/>
            <a:r>
              <a:t>    virtual CHIP_ERROR GetDeviceAttestationCert(MutableByteSpan &amp; outDac);      // 从 Flash/SE 读取 DAC</a:t>
            </a:r>
            <a:br/>
            <a:r>
              <a:t>    virtual CHIP_ERROR GetProductAttestationIntermediateCert(MutableByteSpan &amp; outPai); // 从 Flash 读取 PAI</a:t>
            </a:r>
            <a:br/>
            <a:r>
              <a:t>    virtual CHIP_ERROR SignWithDeviceAttestationKey(const ByteSpan &amp; message,</a:t>
            </a:r>
            <a:br/>
            <a:r>
              <a:t>                                                    MutableByteSpan &amp; outSig);  // SE 内签名, 私钥不外泄</a:t>
            </a:r>
            <a:br/>
            <a:r>
              <a:t>};</a:t>
            </a:r>
            <a:br/>
            <a:br/>
            <a:r>
              <a:t>// 全局接口注册</a:t>
            </a:r>
            <a:br/>
            <a:r>
              <a:t>DeviceAttestationCredentialsProvider * GetDeviceAttestationCredentialsProvider();</a:t>
            </a:r>
            <a:br/>
            <a:r>
              <a:t>void SetDeviceAttestationCredentialsProvider(DeviceAttestationCredentialsProvider * provider);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657600"/>
            <a:ext cx="53035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21208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设备端实现要点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GetDeviceAttestationCert():</a:t>
            </a:r>
            <a:br/>
            <a:r>
              <a:t>  → 从 Flash / 安全元件读取 DAC 证书</a:t>
            </a:r>
            <a:br/>
            <a:r>
              <a:t>  → 证书 DER 编码，通过 NVM3 offset+size 定位</a:t>
            </a:r>
            <a:br/>
            <a:br/>
            <a:r>
              <a:t>GetProductAttestationIntermediateCert():</a:t>
            </a:r>
            <a:br/>
            <a:r>
              <a:t>  → 从 Flash 读取 PAI 证书</a:t>
            </a:r>
            <a:br/>
            <a:r>
              <a:t>  → 所有同型号设备共用同一个 PAI</a:t>
            </a:r>
            <a:br/>
            <a:br/>
            <a:r>
              <a:t>SignWithDeviceAttestationKey():</a:t>
            </a:r>
            <a:br/>
            <a:r>
              <a:t>  → 调用安全元件的 ECDSA 签名接口</a:t>
            </a:r>
            <a:br/>
            <a:r>
              <a:t>  → 私钥永远不离开安全区域</a:t>
            </a:r>
            <a:br/>
            <a:r>
              <a:t>  → SE/TEE 负责密钥生命周期管理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657600"/>
            <a:ext cx="594360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703320"/>
            <a:ext cx="58521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794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Silicon Labs EFR32 实现 (示例)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160520"/>
            <a:ext cx="5577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class SilabsDACProvider : public DeviceAttestationCredentialsProvider</a:t>
            </a:r>
            <a:br/>
            <a:r>
              <a:t>{</a:t>
            </a:r>
            <a:br/>
            <a:r>
              <a:t>    CHIP_ERROR GetDeviceAttestationCert(MutableByteSpan &amp; out)</a:t>
            </a:r>
            <a:br/>
            <a:r>
              <a:t>    {</a:t>
            </a:r>
            <a:br/>
            <a:r>
              <a:t>        // 从 NVM3 读取 DAC 偏移和大小</a:t>
            </a:r>
            <a:br/>
            <a:r>
              <a:t>        uint32_t offset = SilabsConfig::ReadConfigValue(kDacOffset);</a:t>
            </a:r>
            <a:br/>
            <a:r>
              <a:t>        uint32_t size = SilabsConfig::ReadConfigValue(kDacSize);</a:t>
            </a:r>
            <a:br/>
            <a:r>
              <a:t>        // 从 Flash 基地址 + 偏移读取证书</a:t>
            </a:r>
            <a:br/>
            <a:r>
              <a:t>        return FlashRead(baseAddr + offset, out, size);</a:t>
            </a:r>
            <a:br/>
            <a:r>
              <a:t>    }</a:t>
            </a:r>
            <a:br/>
            <a:r>
              <a:t>    CHIP_ERROR SignWithDeviceAttestationKey(...)</a:t>
            </a:r>
            <a:br/>
            <a:r>
              <a:t>    {</a:t>
            </a:r>
            <a:br/>
            <a:r>
              <a:t>        return SE_ECDSA_Sign(message, outSig);  // SE API</a:t>
            </a:r>
            <a:br/>
            <a:r>
              <a:t>    }</a:t>
            </a:r>
            <a:br/>
            <a:r>
              <a:t>};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15  SDK 实现 — DAC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DeviceAttestationVerifier 接口 (Commissioner 端)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class DeviceAttestationVerifier {</a:t>
            </a:r>
            <a:br/>
            <a:r>
              <a:t>public:</a:t>
            </a:r>
            <a:br/>
            <a:r>
              <a:t>    struct AttestationInfo {                      // 验证所需的全部信息</a:t>
            </a:r>
            <a:br/>
            <a:r>
              <a:t>        ByteSpan attestationElementsBuffer;       // Attestation Elements TLV</a:t>
            </a:r>
            <a:br/>
            <a:r>
              <a:t>        ByteSpan attestationChallengeBuffer;      // Secure Session Challenge</a:t>
            </a:r>
            <a:br/>
            <a:r>
              <a:t>        ByteSpan attestationSignatureBuffer;      // ECDSA Signature</a:t>
            </a:r>
            <a:br/>
            <a:r>
              <a:t>        ByteSpan paiDerBuffer;                    // PAI Certificate DER</a:t>
            </a:r>
            <a:br/>
            <a:r>
              <a:t>        ByteSpan dacDerBuffer;                    // DAC Certificate DER</a:t>
            </a:r>
            <a:br/>
            <a:r>
              <a:t>        ByteSpan attestationNonceBuffer;          // Nonce from Request</a:t>
            </a:r>
            <a:br/>
            <a:r>
              <a:t>        VendorId vendorId;                        // From BasicInfoCluster</a:t>
            </a:r>
            <a:br/>
            <a:r>
              <a:t>        uint16_t productId;                       // From BasicInfoCluster</a:t>
            </a:r>
            <a:br/>
            <a:r>
              <a:t>    };</a:t>
            </a:r>
            <a:br/>
            <a:r>
              <a:t>    virtual void VerifyAttestationInformation(...) = 0;</a:t>
            </a:r>
            <a:br/>
            <a: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11612880" cy="3108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520440"/>
            <a:ext cx="1152144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DefaultDACVerifier::VerifyAttestationInformation() 核心验证逻辑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40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void DefaultDACVerifier::VerifyAttestationInformation(const AttestationInfo &amp; info, ...) {</a:t>
            </a:r>
            <a:br/>
            <a:r>
              <a:t>    // 1. 验证参数有效性 (所有 buffer 非空)</a:t>
            </a:r>
            <a:br/>
            <a:r>
              <a:t>    // 2. 确保 PAI 存在 (info.paiDerBuffer 非空)</a:t>
            </a:r>
            <a:br/>
            <a:r>
              <a:t>    // 3. 验证证书格式</a:t>
            </a:r>
            <a:br/>
            <a:r>
              <a:t>    //    VerifyAttestationCertificateFormat(info.paiDerBuffer, kPAI);  // X.509 + OID + Key Usage</a:t>
            </a:r>
            <a:br/>
            <a:r>
              <a:t>    //    VerifyAttestationCertificateFormat(info.dacDerBuffer, kDAC);  // X.509 + OID + Key Usage</a:t>
            </a:r>
            <a:br/>
            <a:r>
              <a:t>    // 4. 匹配 DAC 和 PAI 的 VID/PID — ExtractVIDPIDFromX509Cert()</a:t>
            </a:r>
            <a:br/>
            <a:r>
              <a:t>    // 5. 验证 Attestation 签名 — ValidateAttestationSignature(DAC公钥, elements, challenge)</a:t>
            </a:r>
            <a:br/>
            <a:r>
              <a:t>    // 6. 查找并验证 PAA — PAI.AKID → PAA Trust Store → PAA.SKID</a:t>
            </a:r>
            <a:br/>
            <a:r>
              <a:t>    // 7. 证书链签名验证 — ValidateCertificateChain(PAA, PAI, DAC)</a:t>
            </a:r>
            <a:br/>
            <a:r>
              <a:t>    // 8. 验证 Certification Declaration — ValidateCertificationDeclaration()</a:t>
            </a:r>
            <a:br/>
            <a:r>
              <a:t>    // 9. 异步返回验证结果 — onCompletion(attestationError)</a:t>
            </a:r>
            <a:br/>
            <a:r>
              <a:t>exit:</a:t>
            </a:r>
            <a:br/>
            <a:r>
              <a:t>    onCompletion-&gt;mCall(onCompletion-&gt;mContext, info, attestationError);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16  错误码与调试排查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0080"/>
                <a:gridCol w="2286000"/>
                <a:gridCol w="63093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错误码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排查方向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kPaiMissing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Response 中未包含 PAI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检查 GetProductAttestationIntermediateCert() 返回值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kPaaNotFound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信任库中找不到 PAA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确认 PAA 已安装到 Commissioner 信任库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kPaaFormatInvalid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 X.509 格式错误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检查 PAA 证书 DER 编码和 Matter OID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kPaiFormatInvalid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 X.509 格式错误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检查 PAI DER 编码、OID、Key Usage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kDacFormatInvalid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X.509 格式错误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检查 DAC DER 编码、OID、Key Usage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kDacVendorIdMismatch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DAC.VID != PAI.VID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检查证书生成时的 VID 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kDacProductIdMismatch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DAC.PID != PAI.PID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检查证书生成时的 PID 配置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kDacSignatureInvalid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 公钥无法验 DAC 签名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 私钥与签发 DAC 时不一致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kAttestationSignatureInvalid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签名验证失败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设备端签名逻辑或 nonce 使用有误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kAttestationNonceMismatch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Nonce 不匹配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设备使用了错误的 nonce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kCertificationDeclarationInvalidSignature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602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CD CMS 签名无效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CD 签名密钥不匹配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846320"/>
            <a:ext cx="11612880" cy="17373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89204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调试建议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调试工具:</a:t>
            </a:r>
            <a:br/>
            <a:r>
              <a:t>  chip-cert dump-cert --input dac.der --format pem              # 解析证书</a:t>
            </a:r>
            <a:br/>
            <a:r>
              <a:t>  chip-cert validate-chain --dac dac.der --pai pai.der --paa paa.der  # 验证证书链</a:t>
            </a:r>
            <a:br/>
            <a:r>
              <a:t>  openssl x509 -in cert.pem -text -noout                        # 查看证书扩展字段</a:t>
            </a:r>
            <a:br/>
            <a:r>
              <a:t>  commander nvm3 read -o nvm3.s37 --device efr32mg24 --range ...   # 读取 NVM3 数据</a:t>
            </a:r>
            <a:br/>
            <a:r>
              <a:t>  commander nvm3 parse nvm3.s37                                 # 解析 NVM3 Key-Value</a:t>
            </a:r>
            <a:br/>
            <a:br/>
            <a:r>
              <a:t>日志开关: 开启 chipDeviceAttestation 模块日志至 DETAIL 级别</a:t>
            </a:r>
            <a:br/>
            <a:r>
              <a:t>常见根因: NVM3 数据损坏、证书 VID/PID 配置不一致、PAA 信任库缺失、CD 类型不匹配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17  CASE 协议中的证书使用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CASE Sigma 握手流程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Controller                                          Device</a:t>
            </a:r>
            <a:br/>
            <a:r>
              <a:t>  │── Sigma1 ──────────────────────────────────────&gt;│</a:t>
            </a:r>
            <a:br/>
            <a:r>
              <a:t>  │  { initiator_random, destination_id, ephemeral_pk }│</a:t>
            </a:r>
            <a:br/>
            <a:r>
              <a:t>  │                                                  │ 查找 NOC、验证 NOC 链到 PAA</a:t>
            </a:r>
            <a:br/>
            <a:r>
              <a:t>  │&lt;── Sigma2 ───────────────────────────────────────│</a:t>
            </a:r>
            <a:br/>
            <a:r>
              <a:t>  │  { responder_random, responder_noc, responder_icac, responder_signature, ephemeral_pk }│</a:t>
            </a:r>
            <a:br/>
            <a:r>
              <a:t>  │                                                  │</a:t>
            </a:r>
            <a:br/>
            <a:r>
              <a:t>  │── Sigma3 ──────────────────────────────────────&gt;│</a:t>
            </a:r>
            <a:br/>
            <a:r>
              <a:t>  │  { initiator_noc, initiator_icac, initiator_signature }│</a:t>
            </a:r>
            <a:br/>
            <a:r>
              <a:t>  │                                                  │</a:t>
            </a:r>
            <a:br/>
            <a:r>
              <a:t>  │ ← 双方验证 NOC 链 → ECDH 协商 → 会话密钥 → 加密通信 →  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657600"/>
            <a:ext cx="53035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21208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CASE 中的证书类型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NOC (Node Operational Certificate):</a:t>
            </a:r>
            <a:br/>
            <a:r>
              <a:t>  • 配网时由 Commissioner 通过 CSR 动态签发</a:t>
            </a:r>
            <a:br/>
            <a:r>
              <a:t>  • 绑定设备到特定 Fabric</a:t>
            </a:r>
            <a:br/>
            <a:br/>
            <a:r>
              <a:t>ICAC (Intermediate Certificate Authority Cert):</a:t>
            </a:r>
            <a:br/>
            <a:r>
              <a:t>  • NOC 链的中间层，由 Fabric Root CA 签发</a:t>
            </a:r>
            <a:br/>
            <a:r>
              <a:t>  • 类似 PAI 在 DAC 链中的角色</a:t>
            </a:r>
            <a:br/>
            <a:br/>
            <a:r>
              <a:t>NOC 链: NOC → ICAC → Fabric Root</a:t>
            </a:r>
            <a:br/>
            <a:r>
              <a:t>DAC 链: DAC → PAI → PAA</a:t>
            </a:r>
            <a:br/>
            <a:br/>
            <a:r>
              <a:t>DAC 链用于 Commissioning，NOC 链用于运行通信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657600"/>
            <a:ext cx="594360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703320"/>
            <a:ext cx="585216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794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CASE 安全特性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160520"/>
            <a:ext cx="5577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ECDH 密钥交换:</a:t>
            </a:r>
            <a:br/>
            <a:r>
              <a:t>  使用 ephemeral 密钥对进行 ECDH</a:t>
            </a:r>
            <a:br/>
            <a:r>
              <a:t>  生成共享会话密钥 (P-256)</a:t>
            </a:r>
            <a:br/>
            <a:br/>
            <a:r>
              <a:t>签名验证:</a:t>
            </a:r>
            <a:br/>
            <a:r>
              <a:t>  Sigma2/Sigma3 中包含签名</a:t>
            </a:r>
            <a:br/>
            <a:r>
              <a:t>  验证对方持有 NOC 对应私钥</a:t>
            </a:r>
            <a:br/>
            <a:br/>
            <a:r>
              <a:t>会话恢复 (Sigma2Resume):</a:t>
            </a:r>
            <a:br/>
            <a:r>
              <a:t>  跳过完整 Sigma 握手</a:t>
            </a:r>
            <a:br/>
            <a:r>
              <a:t>  减少延迟和功耗</a:t>
            </a:r>
            <a:br/>
            <a:br/>
            <a:r>
              <a:t>消息保护:</a:t>
            </a:r>
            <a:br/>
            <a:r>
              <a:t>  AES-128-CCM 加密</a:t>
            </a:r>
            <a:br/>
            <a:r>
              <a:t>  消息计数器防重放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18  NOC — Node Operational 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21208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NOC 的角色与生命周期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设备加入 Fabric 后的"数字身份证"</a:t>
            </a:r>
            <a:br/>
            <a:r>
              <a:t>• 配网阶段由 Controller 通过 CSR 动态签发</a:t>
            </a:r>
            <a:br/>
            <a:r>
              <a:t>• 私钥在设备安全区域生成</a:t>
            </a:r>
            <a:br/>
            <a:r>
              <a:t>• 用于 CASE 协议中的身份认证</a:t>
            </a:r>
            <a:br/>
            <a:r>
              <a:t>• 日常通信中用于加密和签名</a:t>
            </a:r>
            <a:br/>
            <a:br/>
            <a:r>
              <a:t>NOC 证书结构:</a:t>
            </a:r>
            <a:br/>
            <a:r>
              <a:t>  Subject: fabric_id=&lt;FabricID&gt;, noc_cat=&lt;CAT&gt;</a:t>
            </a:r>
            <a:br/>
            <a:r>
              <a:t>  OID: Fabric ID, Node ID, CASE Auth Tags (CAT)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594360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585216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NOC 签发流程 (CSR Request/Response)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9164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Commissioner                         Device</a:t>
            </a:r>
            <a:br/>
            <a:r>
              <a:t>  │ 验证 DAC 链通过                    │</a:t>
            </a:r>
            <a:br/>
            <a:r>
              <a:t>  │── CSR Request ──────────────────&gt;│</a:t>
            </a:r>
            <a:br/>
            <a:r>
              <a:t>  │  { csr_nonce, challenge }         │</a:t>
            </a:r>
            <a:br/>
            <a:r>
              <a:t>  │                                   │ 生成 NOC 密钥对</a:t>
            </a:r>
            <a:br/>
            <a:r>
              <a:t>  │                                   │ DAC 私钥签名</a:t>
            </a:r>
            <a:br/>
            <a:r>
              <a:t>  │&lt;── CSR Response ─────────────────│</a:t>
            </a:r>
            <a:br/>
            <a:r>
              <a:t>  │  { nocsr_elements, csr, sig }     │</a:t>
            </a:r>
            <a:br/>
            <a:r>
              <a:t>  │                                   │</a:t>
            </a:r>
            <a:br/>
            <a:r>
              <a:t>  │ 验证 CSR 签名 → CA 签发 NOC      │</a:t>
            </a:r>
            <a:br/>
            <a:r>
              <a:t>  │── AddNOC ──────────────────────&gt;│</a:t>
            </a:r>
            <a:br/>
            <a:r>
              <a:t>  │  { NOC, ICAC, Fabric 参数 }       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36576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93776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DAC 链 (设备认证)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NOC 链 (操作认证)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信任根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 (厂商/CSA)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Fabric Root (Controller)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中间证书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 (产品级)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ICAC (Fabric 中间 CA)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叶子证书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(设备唯一)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NOC (Fabric 内唯一)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证明是合法 Matter 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证明属于特定 Fabric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签发方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厂商 (安全工厂)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Controller (配网时)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使用时机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Commissioning 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配网后所有通信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生命周期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设备出厂后不变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可随 Fabric 变更而更新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5303520"/>
            <a:ext cx="1161288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534924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DAC 链 vs NOC 链 关键区别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DAC 链在制造时固化，出厂即确定，用于一次性设备身份认证 | NOC 链在配网时动态生成，每个 Fabric 独立的 NOC，设备可存在于多个 Fabric 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19  安全启动 · ACL 权限 · DCL 全局验证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56616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安全启动 (Secure Boot)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Bootloader 使用硬件信任根公钥</a:t>
            </a:r>
            <a:br/>
            <a:r>
              <a:t>   验证首层固件签名 (ECDSA)</a:t>
            </a:r>
            <a:br/>
            <a:r>
              <a:t>2. 逐级验证：每级验证下一级固件</a:t>
            </a:r>
            <a:br/>
            <a:r>
              <a:t>3. 失败处理：终止启动或回滚</a:t>
            </a:r>
            <a:br/>
            <a:br/>
            <a:r>
              <a:t>Silicon Labs 实现:</a:t>
            </a:r>
            <a:br/>
            <a:r>
              <a:t>  bootloader_verifyImage()</a:t>
            </a:r>
            <a:br/>
            <a:r>
              <a:t>  → ECDSA 验证 GBL 签名</a:t>
            </a:r>
            <a:br/>
            <a:r>
              <a:t>  → 支持 metadata callback</a:t>
            </a:r>
            <a:br/>
            <a:r>
              <a:t>  错误码: 0x1008 (UNKNOWN_TAG)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356616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ACL 权限控制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动态策略: ACL 规则定义设备/用户权限</a:t>
            </a:r>
            <a:br/>
            <a:r>
              <a:t>• 执行逻辑: 处理命令前验证节点ID和权限</a:t>
            </a:r>
            <a:br/>
            <a:r>
              <a:t>• 示例: 门锁仅允许管理员 Unlock</a:t>
            </a:r>
            <a:br/>
            <a:br/>
            <a:r>
              <a:t>ACL Entry:</a:t>
            </a:r>
            <a:br/>
            <a:r>
              <a:t>  Privilege: Operate/Manage/Admin</a:t>
            </a:r>
            <a:br/>
            <a:r>
              <a:t>  Auth Mode: CASE/PASE/Group</a:t>
            </a:r>
            <a:br/>
            <a:r>
              <a:t>  Subjects: Node ID/Group ID</a:t>
            </a:r>
            <a:br/>
            <a:r>
              <a:t>  Targets: Endpoint/Cluster/Attribute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188720"/>
            <a:ext cx="36576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0999" y="1234440"/>
            <a:ext cx="356616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DCL 全局验证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6916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Distributed Compliance Ledger</a:t>
            </a:r>
            <a:br/>
            <a:r>
              <a:t>• CSA 成员节点共识维护</a:t>
            </a:r>
            <a:br/>
            <a:r>
              <a:t>• 设备入网时查询 DAC 证书链</a:t>
            </a:r>
            <a:br/>
            <a:r>
              <a:t>• 验证 VID/PID 是否通过认证</a:t>
            </a:r>
            <a:br/>
            <a:r>
              <a:t>• 查询证书吊销列表 (CRL)</a:t>
            </a:r>
            <a:br/>
            <a:r>
              <a:t>• 未认证/已吊销 → 拒绝入网</a:t>
            </a:r>
            <a:br/>
            <a:br/>
            <a:r>
              <a:t>去中心化设计</a:t>
            </a:r>
            <a:br/>
            <a:r>
              <a:t>  防止单点篡改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931920"/>
            <a:ext cx="11612880" cy="2651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97764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Matter 完整安全链 (端到端)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12471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硬件信任根  ──→  安全启动  ──→  动态证书  ──→  加密通信  ──→  ACL权限  ──→  DCL验证</a:t>
            </a:r>
            <a:br/>
            <a:r>
              <a:t>     │              │              │              │              │             │</a:t>
            </a:r>
            <a:br/>
            <a:r>
              <a:t>  Secure        Bootloader     DAC/PAI/PAA    PASE/CASE      ACL Rules    CSA Ledger</a:t>
            </a:r>
            <a:br/>
            <a:r>
              <a:t>  Enclave       ECDSA Verify   NOC 签发       AES-128-CCM   权限检查     去中心化</a:t>
            </a:r>
            <a:br/>
            <a:r>
              <a:t>  不可篡改       信任链         身份绑定       防重放        细粒度       共识维护</a:t>
            </a:r>
            <a:br/>
            <a:br/>
            <a:r>
              <a:t>常见挑战:</a:t>
            </a:r>
            <a:br/>
            <a:r>
              <a:t>• 成本: 硬件信任根和安全启动需要硬件支持，低成本芯片可能不具备</a:t>
            </a:r>
            <a:br/>
            <a:r>
              <a:t>• 安全设计: 将云端验证放到客户端处理会导致安全漏洞</a:t>
            </a:r>
            <a:br/>
            <a:r>
              <a:t>• 芯片厂商: 宣传具有安全能力，但实际接口文档无法使用 (需要与 Silicon Labs 等厂商紧密合作)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20  常见问题排查 FAQ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Q1: 设备报告 "kPaiMissing" 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确保设备端 GetProductAttestationIntermediateCert() 返回有效 PAI。检查:</a:t>
            </a:r>
            <a:br/>
            <a:r>
              <a:t>  - 固件中是否嵌入了 PAI 证书  - 证书编码是否为 DER 格式  - NVM3 中 PAI offset/size 是否正确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Q2: Commissioner 找不到 PAA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检查:</a:t>
            </a:r>
            <a:br/>
            <a:r>
              <a:t>  - PAI 证书中的 AKID  →  PAA 信任库中的 SKID 是否匹配</a:t>
            </a:r>
            <a:br/>
            <a:r>
              <a:t>  - Commissioner 的 PAA 信任库是否包含匹配的 PAA</a:t>
            </a:r>
            <a:br/>
            <a:r>
              <a:t>  - chip-tool 命令行是否指定了 --paa-trust-store-path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017520"/>
            <a:ext cx="566928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06324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Q3: VID/PID 不匹配 (Error 305/306)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确保证书链中所有证书的 VID 一致:</a:t>
            </a:r>
            <a:br/>
            <a:r>
              <a:t>  - PAA.VID  =  PAI.VID  =  DAC.VID  =  BasicInfoCluster.VID</a:t>
            </a:r>
            <a:br/>
            <a:r>
              <a:t>  - PAI.PID  =  DAC.PID  =  BasicInfoCluster.PID</a:t>
            </a:r>
            <a:br/>
            <a:r>
              <a:t>  - 检查证书生成工具 (chip-cert) 生成时的 VID/PID 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66928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06324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Q4: Attestation Signature 验证失败 (Error 500)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检查设备端签名逻辑:</a:t>
            </a:r>
            <a:br/>
            <a:r>
              <a:t>  - 是否正确使用 DAC 私钥签名  - 签名消息构造: SHA256(elements || challenge)</a:t>
            </a:r>
            <a:br/>
            <a:r>
              <a:t>  - Nonce 是否正确包含在 attestation_elements 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846320"/>
            <a:ext cx="566928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89204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Q5: CD 验证失败 (Error 602/604/605)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检查:</a:t>
            </a:r>
            <a:br/>
            <a:r>
              <a:t>  - CD 是否使用 CSA 官方密钥签名 (非测试密钥)</a:t>
            </a:r>
            <a:br/>
            <a:r>
              <a:t>  - CD 中的 VID/PID 是否与 DAC 一致  - CD 认证类型是否正确</a:t>
            </a:r>
            <a:br/>
            <a:r>
              <a:t>  - 生产环境必须调用 EnableCdTestKeySupport(false)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846320"/>
            <a:ext cx="5669280" cy="1691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92040"/>
            <a:ext cx="55778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83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Q6: NVM3 证书数据读取为空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可能原因:</a:t>
            </a:r>
            <a:br/>
            <a:r>
              <a:t>  - 使用了 aaa_empty.s37 (空 NVM3)，需要额外写入证书</a:t>
            </a:r>
            <a:br/>
            <a:r>
              <a:t>  - NVM3 区域被擦除或 base_addr 配置错误</a:t>
            </a:r>
            <a:br/>
            <a:r>
              <a:t>  - 使用 last_page.s37 或正确烧录证书数据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21  生产环境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743200"/>
                <a:gridCol w="49377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检查项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开发/测试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生产环境</a:t>
                      </a:r>
                    </a:p>
                  </a:txBody>
                  <a:tcPr anchor="ctr"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证书管理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SDK 测试 PAA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CSA 官方 PAA 或私有 PAA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SDK 示例 PAI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安全工厂签发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私钥存储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Flash (可导出)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SE / TEE (不可导出)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唯一性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可共用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每台设备唯一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SDK 配置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EnableCdTestKeySupport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false (强制)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 信任库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SDK 内置测试库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安装官方 PAA 证书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DCL 吊销检查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可选 (跳过)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必须启用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证书有效期检查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必须启用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工厂生产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PAI 私钥安全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本地生成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HSM/安全工厂生成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DAC 签名能力验证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每台设备验证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证书数据完整性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工厂烧录后校验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安全审计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证书链验证测试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开发自测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定期自动化测试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DCL 吊销状态监控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实时监控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PAA 信任库更新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手动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自动更新机制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5760720"/>
            <a:ext cx="1161288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580644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关键红线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生产环境绝对不可: 使用测试 PAA/CD 密钥 | DAC 私钥可导出 | 共用 DAC | 跳过吊销检查 | 无证书有效期约束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E5C8A"/>
                </a:solidFill>
                <a:latin typeface="Microsoft YaHei"/>
              </a:defRPr>
            </a:pPr>
            <a:r>
              <a:t>22  总结与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核心要点回顾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证书链信任模型: PAA (信任根) → PAI (中间证书) → DAC (设备身份)，Commissioner 必须信任 PAA</a:t>
            </a:r>
            <a:br/>
            <a:r>
              <a:t>2. 设备认证流程: Commissioner 发 nonce → 设备签名返回 → 验证证书链 + 签名 + CD + VID/PID</a:t>
            </a:r>
            <a:br/>
            <a:r>
              <a:t>3. 安全要素: Nonce 防重放 | DAC 私钥不离开安全区域 | CD 证明 CSA 认证 | VID/PID 交叉验证防滥用</a:t>
            </a:r>
            <a:br/>
            <a:r>
              <a:t>4. 从 Commissioning 到 Operation: DAC 认证通过 → NOC 签发 → CASE 会话 → 日常加密通信</a:t>
            </a:r>
            <a:br/>
            <a:r>
              <a:t>5. 生产环境: 禁用测试密钥 | 使用官方 PAA/CD | 启用吊销检查 | 保护私钥 | 每设备唯一 DAC</a:t>
            </a:r>
            <a:br/>
            <a:br/>
            <a:r>
              <a:t>安全是 Matter 的核心基石，正确实现设备认证是构建可信物联网的基础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14800"/>
            <a:ext cx="548640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4160520"/>
            <a:ext cx="5394960" cy="381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C8A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51206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常见讨论问题:</a:t>
            </a:r>
            <a:br/>
            <a:br/>
            <a:r>
              <a:t>1. 私有 PAA vs CSA PAA 的选择？</a:t>
            </a:r>
            <a:br/>
            <a:r>
              <a:t>   公开生态→CSA PAA | 封闭生态→私有 PAA</a:t>
            </a:r>
            <a:br/>
            <a:br/>
            <a:r>
              <a:t>2. DAC 私钥泄漏怎么办？</a:t>
            </a:r>
            <a:br/>
            <a:r>
              <a:t>   立即加入 DCL 吊销列表</a:t>
            </a:r>
            <a:br/>
            <a:br/>
            <a:r>
              <a:t>3. 证书过期如何处理？</a:t>
            </a:r>
            <a:br/>
            <a:r>
              <a:t>   Matter 支持证书更新机制</a:t>
            </a:r>
            <a:br/>
            <a:br/>
            <a:r>
              <a:t>4. 性能影响？</a:t>
            </a:r>
            <a:br/>
            <a:r>
              <a:t>   验签仅在配网时一次执行</a:t>
            </a:r>
            <a:br/>
            <a:r>
              <a:t>   运行时不重复 DAC 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5760720" cy="2468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160520"/>
            <a:ext cx="5669280" cy="38100"/>
          </a:xfrm>
          <a:prstGeom prst="rect">
            <a:avLst/>
          </a:prstGeom>
          <a:solidFill>
            <a:srgbClr val="3A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251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8C3F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17720"/>
            <a:ext cx="5394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Spec 文档:</a:t>
            </a:r>
            <a:br/>
            <a:r>
              <a:t>  23-27349-009_Matter-1.5-Core-Specification.pdf</a:t>
            </a:r>
            <a:br/>
            <a:r>
              <a:t>  Chapter 11: Security and Authentication</a:t>
            </a:r>
            <a:br/>
            <a:r>
              <a:t>  Section 11.22: Device Attestation</a:t>
            </a:r>
            <a:br/>
            <a:br/>
            <a:r>
              <a:t>SDK 代码:</a:t>
            </a:r>
            <a:br/>
            <a:r>
              <a:t>  src/credentials/attestation_verifier/</a:t>
            </a:r>
            <a:br/>
            <a:r>
              <a:t>  src/credentials/DeviceAttestationCredsProvider.h</a:t>
            </a:r>
            <a:br/>
            <a:br/>
            <a:r>
              <a:t>在线资源:</a:t>
            </a:r>
            <a:br/>
            <a:r>
              <a:t>  github.com/project-chip/connectedhomeip</a:t>
            </a:r>
            <a:br/>
            <a:r>
              <a:t>  csa-iot.org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25/25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灰色企业宣传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2065</TotalTime>
  <Words>15</Words>
  <Application>Microsoft Office PowerPoint</Application>
  <PresentationFormat>宽屏</PresentationFormat>
  <Paragraphs>11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微软雅黑</vt:lpstr>
      <vt:lpstr>等线</vt:lpstr>
      <vt:lpstr>Arial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灰色企业宣传</dc:title>
  <dc:creator>Vagun Vagun</dc:creator>
  <cp:lastModifiedBy>Eric Su</cp:lastModifiedBy>
  <cp:revision>134</cp:revision>
  <dcterms:created xsi:type="dcterms:W3CDTF">2019-07-29T02:38:01Z</dcterms:created>
  <dcterms:modified xsi:type="dcterms:W3CDTF">2026-05-16T15:55:37Z</dcterms:modified>
</cp:coreProperties>
</file>