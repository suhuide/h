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64" r:id="rId3"/>
  </p:sldMasterIdLst>
  <p:notesMasterIdLst>
    <p:notesMasterId r:id="rId7"/>
  </p:notesMasterIdLst>
  <p:handoutMasterIdLst>
    <p:handoutMasterId r:id="rId8"/>
  </p:handoutMasterIdLst>
  <p:sldIdLst>
    <p:sldId id="2624" r:id="rId4"/>
    <p:sldId id="23357" r:id="rId15"/>
    <p:sldId id="23358" r:id="rId16"/>
    <p:sldId id="23359" r:id="rId17"/>
    <p:sldId id="23360" r:id="rId18"/>
    <p:sldId id="23361" r:id="rId19"/>
    <p:sldId id="23362" r:id="rId20"/>
    <p:sldId id="23363" r:id="rId21"/>
    <p:sldId id="23364" r:id="rId22"/>
    <p:sldId id="23365" r:id="rId23"/>
    <p:sldId id="23366" r:id="rId24"/>
    <p:sldId id="23367" r:id="rId25"/>
    <p:sldId id="23368" r:id="rId26"/>
    <p:sldId id="23369" r:id="rId27"/>
    <p:sldId id="23370" r:id="rId28"/>
    <p:sldId id="23371" r:id="rId29"/>
    <p:sldId id="23372" r:id="rId30"/>
    <p:sldId id="23373" r:id="rId31"/>
    <p:sldId id="23374" r:id="rId32"/>
    <p:sldId id="23375" r:id="rId33"/>
    <p:sldId id="23376" r:id="rId34"/>
    <p:sldId id="23377" r:id="rId35"/>
    <p:sldId id="23378" r:id="rId36"/>
    <p:sldId id="23379" r:id="rId37"/>
    <p:sldId id="23380" r:id="rId38"/>
    <p:sldId id="23381" r:id="rId39"/>
    <p:sldId id="23382" r:id="rId40"/>
    <p:sldId id="23383" r:id="rId41"/>
    <p:sldId id="23384" r:id="rId42"/>
    <p:sldId id="2672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4C0718-B516-4674-AE59-4ACBE7BD7558}">
          <p14:sldIdLst>
            <p14:sldId id="2624"/>
            <p14:sldId id="23356"/>
            <p14:sldId id="2672"/>
          </p14:sldIdLst>
        </p14:section>
        <p14:section name="Backup" id="{5D175E1E-D359-4D16-9734-49A7E61872C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1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王松辉" initials="王松辉" lastIdx="19" clrIdx="0"/>
  <p:cmAuthor id="2" name="作者" initials="A" lastIdx="0" clrIdx="1"/>
  <p:cmAuthor id="3" name="李生立" initials="李生立" lastIdx="4" clrIdx="2"/>
  <p:cmAuthor id="4" name="杨智添" initials="杨智添" lastIdx="1" clrIdx="3"/>
  <p:cmAuthor id="6" name="yangzhitian" initials="y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23F59"/>
    <a:srgbClr val="C48D79"/>
    <a:srgbClr val="7B9495"/>
    <a:srgbClr val="FFFFFF"/>
    <a:srgbClr val="CA8796"/>
    <a:srgbClr val="868D94"/>
    <a:srgbClr val="DE563E"/>
    <a:srgbClr val="D6301A"/>
    <a:srgbClr val="FF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89487" autoAdjust="0"/>
  </p:normalViewPr>
  <p:slideViewPr>
    <p:cSldViewPr showGuides="1">
      <p:cViewPr varScale="1">
        <p:scale>
          <a:sx n="99" d="100"/>
          <a:sy n="99" d="100"/>
        </p:scale>
        <p:origin x="1086" y="72"/>
      </p:cViewPr>
      <p:guideLst>
        <p:guide orient="horz" pos="551"/>
        <p:guide pos="5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8654"/>
    </p:cViewPr>
  </p:sorterViewPr>
  <p:notesViewPr>
    <p:cSldViewPr>
      <p:cViewPr varScale="1">
        <p:scale>
          <a:sx n="57" d="100"/>
          <a:sy n="57" d="100"/>
        </p:scale>
        <p:origin x="3245" y="53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2026/8/31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1BC41739-0CD9-4590-92B4-B7CBAD9D84A8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2A7D5AF4-933D-4981-9660-F562A10FD14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D5AF4-933D-4981-9660-F562A10FD14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4.png"/><Relationship Id="rId5" Type="http://schemas.openxmlformats.org/officeDocument/2006/relationships/image" Target="../media/image9.svg"/><Relationship Id="rId6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slideLayout" Target="../slideLayouts/slideLayout4.xml"/><Relationship Id="rId5" Type="http://schemas.openxmlformats.org/officeDocument/2006/relationships/hyperlink" Target="mailto:sales@hoperf.com" TargetMode="External"/><Relationship Id="rId6" Type="http://schemas.openxmlformats.org/officeDocument/2006/relationships/hyperlink" Target="mailto:info@hoperf.com" TargetMode="External"/><Relationship Id="rId7" Type="http://schemas.openxmlformats.org/officeDocument/2006/relationships/hyperlink" Target="http://www.hoperf.cn/" TargetMode="External"/><Relationship Id="rId8" Type="http://schemas.openxmlformats.org/officeDocument/2006/relationships/hyperlink" Target="http://www.hoperf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8422640" y="5203190"/>
            <a:ext cx="1158240" cy="296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RF IC</a:t>
            </a:r>
          </a:p>
          <a:p>
            <a:pPr algn="ctr">
              <a:lnSpc>
                <a:spcPct val="100000"/>
              </a:lnSpc>
            </a:pPr>
            <a:r>
              <a:rPr lang="zh-CN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射频芯片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299575" y="5203190"/>
            <a:ext cx="138874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IoT Module</a:t>
            </a: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无线模组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0392410" y="5203190"/>
            <a:ext cx="1308100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Signal Chain</a:t>
            </a: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信号链产品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screen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72458" y="4634865"/>
            <a:ext cx="548005" cy="5683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cpu,处理器,中央处理器,芯片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8745538" y="4690745"/>
            <a:ext cx="512445" cy="51244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 descr="电路板"/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68C1EB">
                  <a:alpha val="100000"/>
                </a:srgbClr>
              </a:clrFrom>
              <a:clrTo>
                <a:srgbClr val="68C1EB">
                  <a:alpha val="100000"/>
                  <a:alpha val="0"/>
                </a:srgbClr>
              </a:clrTo>
            </a:clrChange>
            <a:lum bright="-60000"/>
          </a:blip>
          <a:stretch>
            <a:fillRect/>
          </a:stretch>
        </p:blipFill>
        <p:spPr>
          <a:xfrm>
            <a:off x="9699943" y="4543425"/>
            <a:ext cx="588010" cy="74676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10116799" y="3410932"/>
            <a:ext cx="1460656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Eric Su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2026-09-26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81E3D9-2420-0D49-29F1-EBACA04F46D6}"/>
              </a:ext>
            </a:extLst>
          </p:cNvPr>
          <p:cNvSpPr/>
          <p:nvPr/>
        </p:nvSpPr>
        <p:spPr>
          <a:xfrm>
            <a:off x="6960000" y="1950118"/>
            <a:ext cx="4360463" cy="91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Matter </a:t>
            </a:r>
            <a:r>
              <a:rPr lang="en-US" altLang="zh-CN" sz="4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</a:t>
            </a:r>
            <a:endParaRPr lang="en-US" sz="4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1D3F26A-EBD1-74DE-FC55-7A272C0BC4DD}"/>
              </a:ext>
            </a:extLst>
          </p:cNvPr>
          <p:cNvSpPr/>
          <p:nvPr/>
        </p:nvSpPr>
        <p:spPr>
          <a:xfrm>
            <a:off x="6766560" y="2867969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 i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PAA PAI DAC + CD | 验签详解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"/>
          <p:cNvSpPr txBox="1"/>
          <p:nvPr/>
        </p:nvSpPr>
        <p:spPr>
          <a:xfrm>
            <a:off x="696000" y="1619200"/>
            <a:ext cx="6906885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80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</a:p>
        </p:txBody>
      </p:sp>
      <p:sp>
        <p:nvSpPr>
          <p:cNvPr id="22" name="矩形 21"/>
          <p:cNvSpPr/>
          <p:nvPr/>
        </p:nvSpPr>
        <p:spPr>
          <a:xfrm>
            <a:off x="1178560" y="3270250"/>
            <a:ext cx="4942840" cy="1865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热线：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400-1189-180 / TEL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0755-82973805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82973807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5"/>
              </a:rPr>
              <a:t>sales@hoperf.com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（销售）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6"/>
              </a:rPr>
              <a:t>Info@hoperf.com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（商务）</a:t>
            </a:r>
          </a:p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深圳市南山区西丽街道万科云城三期8栋A座30层（整层）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8" name="椭圆 36"/>
          <p:cNvSpPr>
            <a:spLocks noChangeAspect="1"/>
          </p:cNvSpPr>
          <p:nvPr/>
        </p:nvSpPr>
        <p:spPr bwMode="auto">
          <a:xfrm>
            <a:off x="981075" y="4521835"/>
            <a:ext cx="215900" cy="215900"/>
          </a:xfrm>
          <a:custGeom>
            <a:avLst/>
            <a:gdLst>
              <a:gd name="connsiteX0" fmla="*/ 199497 w 331788"/>
              <a:gd name="connsiteY0" fmla="*/ 265112 h 331787"/>
              <a:gd name="connsiteX1" fmla="*/ 209798 w 331788"/>
              <a:gd name="connsiteY1" fmla="*/ 279217 h 331787"/>
              <a:gd name="connsiteX2" fmla="*/ 238126 w 331788"/>
              <a:gd name="connsiteY2" fmla="*/ 315118 h 331787"/>
              <a:gd name="connsiteX3" fmla="*/ 166018 w 331788"/>
              <a:gd name="connsiteY3" fmla="*/ 331787 h 331787"/>
              <a:gd name="connsiteX4" fmla="*/ 122238 w 331788"/>
              <a:gd name="connsiteY4" fmla="*/ 325376 h 331787"/>
              <a:gd name="connsiteX5" fmla="*/ 199497 w 331788"/>
              <a:gd name="connsiteY5" fmla="*/ 265112 h 331787"/>
              <a:gd name="connsiteX6" fmla="*/ 190500 w 331788"/>
              <a:gd name="connsiteY6" fmla="*/ 228600 h 331787"/>
              <a:gd name="connsiteX7" fmla="*/ 201490 w 331788"/>
              <a:gd name="connsiteY7" fmla="*/ 228600 h 331787"/>
              <a:gd name="connsiteX8" fmla="*/ 206375 w 331788"/>
              <a:gd name="connsiteY8" fmla="*/ 236394 h 331787"/>
              <a:gd name="connsiteX9" fmla="*/ 200269 w 331788"/>
              <a:gd name="connsiteY9" fmla="*/ 242888 h 331787"/>
              <a:gd name="connsiteX10" fmla="*/ 190500 w 331788"/>
              <a:gd name="connsiteY10" fmla="*/ 228600 h 331787"/>
              <a:gd name="connsiteX11" fmla="*/ 146452 w 331788"/>
              <a:gd name="connsiteY11" fmla="*/ 228600 h 331787"/>
              <a:gd name="connsiteX12" fmla="*/ 164590 w 331788"/>
              <a:gd name="connsiteY12" fmla="*/ 229897 h 331787"/>
              <a:gd name="connsiteX13" fmla="*/ 165885 w 331788"/>
              <a:gd name="connsiteY13" fmla="*/ 229897 h 331787"/>
              <a:gd name="connsiteX14" fmla="*/ 173659 w 331788"/>
              <a:gd name="connsiteY14" fmla="*/ 229897 h 331787"/>
              <a:gd name="connsiteX15" fmla="*/ 190501 w 331788"/>
              <a:gd name="connsiteY15" fmla="*/ 253240 h 331787"/>
              <a:gd name="connsiteX16" fmla="*/ 103699 w 331788"/>
              <a:gd name="connsiteY16" fmla="*/ 320675 h 331787"/>
              <a:gd name="connsiteX17" fmla="*/ 77788 w 331788"/>
              <a:gd name="connsiteY17" fmla="*/ 306410 h 331787"/>
              <a:gd name="connsiteX18" fmla="*/ 112768 w 331788"/>
              <a:gd name="connsiteY18" fmla="*/ 244162 h 331787"/>
              <a:gd name="connsiteX19" fmla="*/ 121837 w 331788"/>
              <a:gd name="connsiteY19" fmla="*/ 245459 h 331787"/>
              <a:gd name="connsiteX20" fmla="*/ 146452 w 331788"/>
              <a:gd name="connsiteY20" fmla="*/ 228600 h 331787"/>
              <a:gd name="connsiteX21" fmla="*/ 323851 w 331788"/>
              <a:gd name="connsiteY21" fmla="*/ 217487 h 331787"/>
              <a:gd name="connsiteX22" fmla="*/ 249631 w 331788"/>
              <a:gd name="connsiteY22" fmla="*/ 307975 h 331787"/>
              <a:gd name="connsiteX23" fmla="*/ 207963 w 331788"/>
              <a:gd name="connsiteY23" fmla="*/ 253682 h 331787"/>
              <a:gd name="connsiteX24" fmla="*/ 218380 w 331788"/>
              <a:gd name="connsiteY24" fmla="*/ 243341 h 331787"/>
              <a:gd name="connsiteX25" fmla="*/ 227495 w 331788"/>
              <a:gd name="connsiteY25" fmla="*/ 244634 h 331787"/>
              <a:gd name="connsiteX26" fmla="*/ 253537 w 331788"/>
              <a:gd name="connsiteY26" fmla="*/ 225243 h 331787"/>
              <a:gd name="connsiteX27" fmla="*/ 323851 w 331788"/>
              <a:gd name="connsiteY27" fmla="*/ 217487 h 331787"/>
              <a:gd name="connsiteX28" fmla="*/ 3175 w 331788"/>
              <a:gd name="connsiteY28" fmla="*/ 196850 h 331787"/>
              <a:gd name="connsiteX29" fmla="*/ 93642 w 331788"/>
              <a:gd name="connsiteY29" fmla="*/ 222902 h 331787"/>
              <a:gd name="connsiteX30" fmla="*/ 100013 w 331788"/>
              <a:gd name="connsiteY30" fmla="*/ 235927 h 331787"/>
              <a:gd name="connsiteX31" fmla="*/ 65610 w 331788"/>
              <a:gd name="connsiteY31" fmla="*/ 298450 h 331787"/>
              <a:gd name="connsiteX32" fmla="*/ 3175 w 331788"/>
              <a:gd name="connsiteY32" fmla="*/ 196850 h 331787"/>
              <a:gd name="connsiteX33" fmla="*/ 146517 w 331788"/>
              <a:gd name="connsiteY33" fmla="*/ 192087 h 331787"/>
              <a:gd name="connsiteX34" fmla="*/ 163513 w 331788"/>
              <a:gd name="connsiteY34" fmla="*/ 215900 h 331787"/>
              <a:gd name="connsiteX35" fmla="*/ 147825 w 331788"/>
              <a:gd name="connsiteY35" fmla="*/ 214577 h 331787"/>
              <a:gd name="connsiteX36" fmla="*/ 141288 w 331788"/>
              <a:gd name="connsiteY36" fmla="*/ 200025 h 331787"/>
              <a:gd name="connsiteX37" fmla="*/ 146517 w 331788"/>
              <a:gd name="connsiteY37" fmla="*/ 192087 h 331787"/>
              <a:gd name="connsiteX38" fmla="*/ 277877 w 331788"/>
              <a:gd name="connsiteY38" fmla="*/ 160337 h 331787"/>
              <a:gd name="connsiteX39" fmla="*/ 314326 w 331788"/>
              <a:gd name="connsiteY39" fmla="*/ 204624 h 331787"/>
              <a:gd name="connsiteX40" fmla="*/ 253143 w 331788"/>
              <a:gd name="connsiteY40" fmla="*/ 211137 h 331787"/>
              <a:gd name="connsiteX41" fmla="*/ 249238 w 331788"/>
              <a:gd name="connsiteY41" fmla="*/ 203322 h 331787"/>
              <a:gd name="connsiteX42" fmla="*/ 277877 w 331788"/>
              <a:gd name="connsiteY42" fmla="*/ 160337 h 331787"/>
              <a:gd name="connsiteX43" fmla="*/ 290513 w 331788"/>
              <a:gd name="connsiteY43" fmla="*/ 153987 h 331787"/>
              <a:gd name="connsiteX44" fmla="*/ 331788 w 331788"/>
              <a:gd name="connsiteY44" fmla="*/ 167061 h 331787"/>
              <a:gd name="connsiteX45" fmla="*/ 329125 w 331788"/>
              <a:gd name="connsiteY45" fmla="*/ 198437 h 331787"/>
              <a:gd name="connsiteX46" fmla="*/ 290513 w 331788"/>
              <a:gd name="connsiteY46" fmla="*/ 153987 h 331787"/>
              <a:gd name="connsiteX47" fmla="*/ 113341 w 331788"/>
              <a:gd name="connsiteY47" fmla="*/ 139700 h 331787"/>
              <a:gd name="connsiteX48" fmla="*/ 130085 w 331788"/>
              <a:gd name="connsiteY48" fmla="*/ 169324 h 331787"/>
              <a:gd name="connsiteX49" fmla="*/ 136525 w 331788"/>
              <a:gd name="connsiteY49" fmla="*/ 178340 h 331787"/>
              <a:gd name="connsiteX50" fmla="*/ 128797 w 331788"/>
              <a:gd name="connsiteY50" fmla="*/ 191219 h 331787"/>
              <a:gd name="connsiteX51" fmla="*/ 121069 w 331788"/>
              <a:gd name="connsiteY51" fmla="*/ 189932 h 331787"/>
              <a:gd name="connsiteX52" fmla="*/ 95310 w 331788"/>
              <a:gd name="connsiteY52" fmla="*/ 207963 h 331787"/>
              <a:gd name="connsiteX53" fmla="*/ 1288 w 331788"/>
              <a:gd name="connsiteY53" fmla="*/ 179628 h 331787"/>
              <a:gd name="connsiteX54" fmla="*/ 0 w 331788"/>
              <a:gd name="connsiteY54" fmla="*/ 165460 h 331787"/>
              <a:gd name="connsiteX55" fmla="*/ 1288 w 331788"/>
              <a:gd name="connsiteY55" fmla="*/ 151292 h 331787"/>
              <a:gd name="connsiteX56" fmla="*/ 113341 w 331788"/>
              <a:gd name="connsiteY56" fmla="*/ 139700 h 331787"/>
              <a:gd name="connsiteX57" fmla="*/ 186315 w 331788"/>
              <a:gd name="connsiteY57" fmla="*/ 138112 h 331787"/>
              <a:gd name="connsiteX58" fmla="*/ 268288 w 331788"/>
              <a:gd name="connsiteY58" fmla="*/ 149780 h 331787"/>
              <a:gd name="connsiteX59" fmla="*/ 238829 w 331788"/>
              <a:gd name="connsiteY59" fmla="*/ 193860 h 331787"/>
              <a:gd name="connsiteX60" fmla="*/ 227301 w 331788"/>
              <a:gd name="connsiteY60" fmla="*/ 191267 h 331787"/>
              <a:gd name="connsiteX61" fmla="*/ 200404 w 331788"/>
              <a:gd name="connsiteY61" fmla="*/ 214604 h 331787"/>
              <a:gd name="connsiteX62" fmla="*/ 179911 w 331788"/>
              <a:gd name="connsiteY62" fmla="*/ 215900 h 331787"/>
              <a:gd name="connsiteX63" fmla="*/ 155575 w 331788"/>
              <a:gd name="connsiteY63" fmla="*/ 179599 h 331787"/>
              <a:gd name="connsiteX64" fmla="*/ 173507 w 331788"/>
              <a:gd name="connsiteY64" fmla="*/ 154966 h 331787"/>
              <a:gd name="connsiteX65" fmla="*/ 186315 w 331788"/>
              <a:gd name="connsiteY65" fmla="*/ 138112 h 331787"/>
              <a:gd name="connsiteX66" fmla="*/ 168276 w 331788"/>
              <a:gd name="connsiteY66" fmla="*/ 138112 h 331787"/>
              <a:gd name="connsiteX67" fmla="*/ 161661 w 331788"/>
              <a:gd name="connsiteY67" fmla="*/ 145566 h 331787"/>
              <a:gd name="connsiteX68" fmla="*/ 145786 w 331788"/>
              <a:gd name="connsiteY68" fmla="*/ 166687 h 331787"/>
              <a:gd name="connsiteX69" fmla="*/ 141817 w 331788"/>
              <a:gd name="connsiteY69" fmla="*/ 161718 h 331787"/>
              <a:gd name="connsiteX70" fmla="*/ 128588 w 331788"/>
              <a:gd name="connsiteY70" fmla="*/ 139354 h 331787"/>
              <a:gd name="connsiteX71" fmla="*/ 168276 w 331788"/>
              <a:gd name="connsiteY71" fmla="*/ 138112 h 331787"/>
              <a:gd name="connsiteX72" fmla="*/ 220028 w 331788"/>
              <a:gd name="connsiteY72" fmla="*/ 103187 h 331787"/>
              <a:gd name="connsiteX73" fmla="*/ 232728 w 331788"/>
              <a:gd name="connsiteY73" fmla="*/ 105784 h 331787"/>
              <a:gd name="connsiteX74" fmla="*/ 237808 w 331788"/>
              <a:gd name="connsiteY74" fmla="*/ 105784 h 331787"/>
              <a:gd name="connsiteX75" fmla="*/ 246698 w 331788"/>
              <a:gd name="connsiteY75" fmla="*/ 118773 h 331787"/>
              <a:gd name="connsiteX76" fmla="*/ 255588 w 331788"/>
              <a:gd name="connsiteY76" fmla="*/ 131762 h 331787"/>
              <a:gd name="connsiteX77" fmla="*/ 198438 w 331788"/>
              <a:gd name="connsiteY77" fmla="*/ 125267 h 331787"/>
              <a:gd name="connsiteX78" fmla="*/ 220028 w 331788"/>
              <a:gd name="connsiteY78" fmla="*/ 103187 h 331787"/>
              <a:gd name="connsiteX79" fmla="*/ 317236 w 331788"/>
              <a:gd name="connsiteY79" fmla="*/ 98425 h 331787"/>
              <a:gd name="connsiteX80" fmla="*/ 331788 w 331788"/>
              <a:gd name="connsiteY80" fmla="*/ 152400 h 331787"/>
              <a:gd name="connsiteX81" fmla="*/ 292100 w 331788"/>
              <a:gd name="connsiteY81" fmla="*/ 140552 h 331787"/>
              <a:gd name="connsiteX82" fmla="*/ 317236 w 331788"/>
              <a:gd name="connsiteY82" fmla="*/ 98425 h 331787"/>
              <a:gd name="connsiteX83" fmla="*/ 286068 w 331788"/>
              <a:gd name="connsiteY83" fmla="*/ 52387 h 331787"/>
              <a:gd name="connsiteX84" fmla="*/ 309563 w 331788"/>
              <a:gd name="connsiteY84" fmla="*/ 84748 h 331787"/>
              <a:gd name="connsiteX85" fmla="*/ 278236 w 331788"/>
              <a:gd name="connsiteY85" fmla="*/ 136525 h 331787"/>
              <a:gd name="connsiteX86" fmla="*/ 276931 w 331788"/>
              <a:gd name="connsiteY86" fmla="*/ 136525 h 331787"/>
              <a:gd name="connsiteX87" fmla="*/ 258657 w 331788"/>
              <a:gd name="connsiteY87" fmla="*/ 110636 h 331787"/>
              <a:gd name="connsiteX88" fmla="*/ 250825 w 331788"/>
              <a:gd name="connsiteY88" fmla="*/ 98986 h 331787"/>
              <a:gd name="connsiteX89" fmla="*/ 259962 w 331788"/>
              <a:gd name="connsiteY89" fmla="*/ 78275 h 331787"/>
              <a:gd name="connsiteX90" fmla="*/ 258657 w 331788"/>
              <a:gd name="connsiteY90" fmla="*/ 70509 h 331787"/>
              <a:gd name="connsiteX91" fmla="*/ 286068 w 331788"/>
              <a:gd name="connsiteY91" fmla="*/ 52387 h 331787"/>
              <a:gd name="connsiteX92" fmla="*/ 73025 w 331788"/>
              <a:gd name="connsiteY92" fmla="*/ 28575 h 331787"/>
              <a:gd name="connsiteX93" fmla="*/ 107950 w 331788"/>
              <a:gd name="connsiteY93" fmla="*/ 126377 h 331787"/>
              <a:gd name="connsiteX94" fmla="*/ 3175 w 331788"/>
              <a:gd name="connsiteY94" fmla="*/ 138113 h 331787"/>
              <a:gd name="connsiteX95" fmla="*/ 73025 w 331788"/>
              <a:gd name="connsiteY95" fmla="*/ 28575 h 331787"/>
              <a:gd name="connsiteX96" fmla="*/ 203200 w 331788"/>
              <a:gd name="connsiteY96" fmla="*/ 4762 h 331787"/>
              <a:gd name="connsiteX97" fmla="*/ 274638 w 331788"/>
              <a:gd name="connsiteY97" fmla="*/ 41817 h 331787"/>
              <a:gd name="connsiteX98" fmla="*/ 251258 w 331788"/>
              <a:gd name="connsiteY98" fmla="*/ 57150 h 331787"/>
              <a:gd name="connsiteX99" fmla="*/ 233074 w 331788"/>
              <a:gd name="connsiteY99" fmla="*/ 50761 h 331787"/>
              <a:gd name="connsiteX100" fmla="*/ 225281 w 331788"/>
              <a:gd name="connsiteY100" fmla="*/ 52039 h 331787"/>
              <a:gd name="connsiteX101" fmla="*/ 203200 w 331788"/>
              <a:gd name="connsiteY101" fmla="*/ 4762 h 331787"/>
              <a:gd name="connsiteX102" fmla="*/ 165260 w 331788"/>
              <a:gd name="connsiteY102" fmla="*/ 0 h 331787"/>
              <a:gd name="connsiteX103" fmla="*/ 185786 w 331788"/>
              <a:gd name="connsiteY103" fmla="*/ 1290 h 331787"/>
              <a:gd name="connsiteX104" fmla="*/ 212725 w 331788"/>
              <a:gd name="connsiteY104" fmla="*/ 59333 h 331787"/>
              <a:gd name="connsiteX105" fmla="*/ 205028 w 331788"/>
              <a:gd name="connsiteY105" fmla="*/ 77390 h 331787"/>
              <a:gd name="connsiteX106" fmla="*/ 208876 w 331788"/>
              <a:gd name="connsiteY106" fmla="*/ 91579 h 331787"/>
              <a:gd name="connsiteX107" fmla="*/ 179371 w 331788"/>
              <a:gd name="connsiteY107" fmla="*/ 122535 h 331787"/>
              <a:gd name="connsiteX108" fmla="*/ 176806 w 331788"/>
              <a:gd name="connsiteY108" fmla="*/ 122535 h 331787"/>
              <a:gd name="connsiteX109" fmla="*/ 122927 w 331788"/>
              <a:gd name="connsiteY109" fmla="*/ 123825 h 331787"/>
              <a:gd name="connsiteX110" fmla="*/ 85725 w 331788"/>
              <a:gd name="connsiteY110" fmla="*/ 20637 h 331787"/>
              <a:gd name="connsiteX111" fmla="*/ 165260 w 331788"/>
              <a:gd name="connsiteY111" fmla="*/ 0 h 33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31788" h="331787">
                <a:moveTo>
                  <a:pt x="199497" y="265112"/>
                </a:moveTo>
                <a:cubicBezTo>
                  <a:pt x="203360" y="270241"/>
                  <a:pt x="205935" y="274088"/>
                  <a:pt x="209798" y="279217"/>
                </a:cubicBezTo>
                <a:cubicBezTo>
                  <a:pt x="222674" y="295885"/>
                  <a:pt x="231688" y="307425"/>
                  <a:pt x="238126" y="315118"/>
                </a:cubicBezTo>
                <a:cubicBezTo>
                  <a:pt x="216236" y="325376"/>
                  <a:pt x="191771" y="331787"/>
                  <a:pt x="166018" y="331787"/>
                </a:cubicBezTo>
                <a:cubicBezTo>
                  <a:pt x="150566" y="331787"/>
                  <a:pt x="136402" y="329223"/>
                  <a:pt x="122238" y="325376"/>
                </a:cubicBezTo>
                <a:cubicBezTo>
                  <a:pt x="141553" y="312554"/>
                  <a:pt x="169881" y="293321"/>
                  <a:pt x="199497" y="265112"/>
                </a:cubicBezTo>
                <a:close/>
                <a:moveTo>
                  <a:pt x="190500" y="228600"/>
                </a:moveTo>
                <a:cubicBezTo>
                  <a:pt x="194163" y="228600"/>
                  <a:pt x="197827" y="228600"/>
                  <a:pt x="201490" y="228600"/>
                </a:cubicBezTo>
                <a:cubicBezTo>
                  <a:pt x="202712" y="231198"/>
                  <a:pt x="203933" y="233796"/>
                  <a:pt x="206375" y="236394"/>
                </a:cubicBezTo>
                <a:cubicBezTo>
                  <a:pt x="203933" y="237693"/>
                  <a:pt x="201490" y="240290"/>
                  <a:pt x="200269" y="242888"/>
                </a:cubicBezTo>
                <a:cubicBezTo>
                  <a:pt x="196606" y="237693"/>
                  <a:pt x="194163" y="233796"/>
                  <a:pt x="190500" y="228600"/>
                </a:cubicBezTo>
                <a:close/>
                <a:moveTo>
                  <a:pt x="146452" y="228600"/>
                </a:moveTo>
                <a:cubicBezTo>
                  <a:pt x="152930" y="228600"/>
                  <a:pt x="159408" y="229897"/>
                  <a:pt x="164590" y="229897"/>
                </a:cubicBezTo>
                <a:cubicBezTo>
                  <a:pt x="164590" y="229897"/>
                  <a:pt x="164590" y="229897"/>
                  <a:pt x="165885" y="229897"/>
                </a:cubicBezTo>
                <a:cubicBezTo>
                  <a:pt x="168477" y="229897"/>
                  <a:pt x="171068" y="229897"/>
                  <a:pt x="173659" y="229897"/>
                </a:cubicBezTo>
                <a:cubicBezTo>
                  <a:pt x="178841" y="237678"/>
                  <a:pt x="185319" y="245459"/>
                  <a:pt x="190501" y="253240"/>
                </a:cubicBezTo>
                <a:cubicBezTo>
                  <a:pt x="156817" y="286958"/>
                  <a:pt x="123132" y="309004"/>
                  <a:pt x="103699" y="320675"/>
                </a:cubicBezTo>
                <a:cubicBezTo>
                  <a:pt x="94630" y="316785"/>
                  <a:pt x="85561" y="311597"/>
                  <a:pt x="77788" y="306410"/>
                </a:cubicBezTo>
                <a:cubicBezTo>
                  <a:pt x="84266" y="293442"/>
                  <a:pt x="97221" y="271396"/>
                  <a:pt x="112768" y="244162"/>
                </a:cubicBezTo>
                <a:cubicBezTo>
                  <a:pt x="115359" y="245459"/>
                  <a:pt x="117950" y="245459"/>
                  <a:pt x="121837" y="245459"/>
                </a:cubicBezTo>
                <a:cubicBezTo>
                  <a:pt x="132201" y="245459"/>
                  <a:pt x="142566" y="238975"/>
                  <a:pt x="146452" y="228600"/>
                </a:cubicBezTo>
                <a:close/>
                <a:moveTo>
                  <a:pt x="323851" y="217487"/>
                </a:moveTo>
                <a:cubicBezTo>
                  <a:pt x="310830" y="256268"/>
                  <a:pt x="284788" y="287292"/>
                  <a:pt x="249631" y="307975"/>
                </a:cubicBezTo>
                <a:cubicBezTo>
                  <a:pt x="240516" y="295048"/>
                  <a:pt x="224890" y="275658"/>
                  <a:pt x="207963" y="253682"/>
                </a:cubicBezTo>
                <a:cubicBezTo>
                  <a:pt x="211869" y="249804"/>
                  <a:pt x="214474" y="247219"/>
                  <a:pt x="218380" y="243341"/>
                </a:cubicBezTo>
                <a:cubicBezTo>
                  <a:pt x="220984" y="244634"/>
                  <a:pt x="223588" y="244634"/>
                  <a:pt x="227495" y="244634"/>
                </a:cubicBezTo>
                <a:cubicBezTo>
                  <a:pt x="239214" y="244634"/>
                  <a:pt x="250933" y="236878"/>
                  <a:pt x="253537" y="225243"/>
                </a:cubicBezTo>
                <a:cubicBezTo>
                  <a:pt x="280881" y="222658"/>
                  <a:pt x="304319" y="220073"/>
                  <a:pt x="323851" y="217487"/>
                </a:cubicBezTo>
                <a:close/>
                <a:moveTo>
                  <a:pt x="3175" y="196850"/>
                </a:moveTo>
                <a:cubicBezTo>
                  <a:pt x="23562" y="204666"/>
                  <a:pt x="55417" y="215086"/>
                  <a:pt x="93642" y="222902"/>
                </a:cubicBezTo>
                <a:cubicBezTo>
                  <a:pt x="94916" y="228112"/>
                  <a:pt x="96190" y="232019"/>
                  <a:pt x="100013" y="235927"/>
                </a:cubicBezTo>
                <a:cubicBezTo>
                  <a:pt x="84723" y="261978"/>
                  <a:pt x="71981" y="284122"/>
                  <a:pt x="65610" y="298450"/>
                </a:cubicBezTo>
                <a:cubicBezTo>
                  <a:pt x="33755" y="273702"/>
                  <a:pt x="10820" y="237230"/>
                  <a:pt x="3175" y="196850"/>
                </a:cubicBezTo>
                <a:close/>
                <a:moveTo>
                  <a:pt x="146517" y="192087"/>
                </a:moveTo>
                <a:cubicBezTo>
                  <a:pt x="151747" y="200025"/>
                  <a:pt x="156976" y="207963"/>
                  <a:pt x="163513" y="215900"/>
                </a:cubicBezTo>
                <a:cubicBezTo>
                  <a:pt x="158284" y="215900"/>
                  <a:pt x="153054" y="214577"/>
                  <a:pt x="147825" y="214577"/>
                </a:cubicBezTo>
                <a:cubicBezTo>
                  <a:pt x="147825" y="209286"/>
                  <a:pt x="145210" y="203994"/>
                  <a:pt x="141288" y="200025"/>
                </a:cubicBezTo>
                <a:cubicBezTo>
                  <a:pt x="142595" y="197379"/>
                  <a:pt x="145210" y="194733"/>
                  <a:pt x="146517" y="192087"/>
                </a:cubicBezTo>
                <a:close/>
                <a:moveTo>
                  <a:pt x="277877" y="160337"/>
                </a:moveTo>
                <a:cubicBezTo>
                  <a:pt x="290894" y="175968"/>
                  <a:pt x="302610" y="190296"/>
                  <a:pt x="314326" y="204624"/>
                </a:cubicBezTo>
                <a:cubicBezTo>
                  <a:pt x="297403" y="205927"/>
                  <a:pt x="276575" y="208532"/>
                  <a:pt x="253143" y="211137"/>
                </a:cubicBezTo>
                <a:cubicBezTo>
                  <a:pt x="251842" y="207230"/>
                  <a:pt x="251842" y="204624"/>
                  <a:pt x="249238" y="203322"/>
                </a:cubicBezTo>
                <a:cubicBezTo>
                  <a:pt x="259652" y="188994"/>
                  <a:pt x="270066" y="174665"/>
                  <a:pt x="277877" y="160337"/>
                </a:cubicBezTo>
                <a:close/>
                <a:moveTo>
                  <a:pt x="290513" y="153987"/>
                </a:moveTo>
                <a:cubicBezTo>
                  <a:pt x="306490" y="159216"/>
                  <a:pt x="321136" y="163139"/>
                  <a:pt x="331788" y="167061"/>
                </a:cubicBezTo>
                <a:cubicBezTo>
                  <a:pt x="331788" y="178827"/>
                  <a:pt x="330457" y="187978"/>
                  <a:pt x="329125" y="198437"/>
                </a:cubicBezTo>
                <a:cubicBezTo>
                  <a:pt x="317142" y="185364"/>
                  <a:pt x="303828" y="170983"/>
                  <a:pt x="290513" y="153987"/>
                </a:cubicBezTo>
                <a:close/>
                <a:moveTo>
                  <a:pt x="113341" y="139700"/>
                </a:moveTo>
                <a:cubicBezTo>
                  <a:pt x="118493" y="150004"/>
                  <a:pt x="124933" y="160307"/>
                  <a:pt x="130085" y="169324"/>
                </a:cubicBezTo>
                <a:cubicBezTo>
                  <a:pt x="132661" y="171900"/>
                  <a:pt x="135237" y="175764"/>
                  <a:pt x="136525" y="178340"/>
                </a:cubicBezTo>
                <a:cubicBezTo>
                  <a:pt x="133949" y="183492"/>
                  <a:pt x="131373" y="187356"/>
                  <a:pt x="128797" y="191219"/>
                </a:cubicBezTo>
                <a:cubicBezTo>
                  <a:pt x="126221" y="189932"/>
                  <a:pt x="123645" y="189932"/>
                  <a:pt x="121069" y="189932"/>
                </a:cubicBezTo>
                <a:cubicBezTo>
                  <a:pt x="109478" y="189932"/>
                  <a:pt x="99174" y="197659"/>
                  <a:pt x="95310" y="207963"/>
                </a:cubicBezTo>
                <a:cubicBezTo>
                  <a:pt x="52807" y="200235"/>
                  <a:pt x="19320" y="187356"/>
                  <a:pt x="1288" y="179628"/>
                </a:cubicBezTo>
                <a:cubicBezTo>
                  <a:pt x="0" y="174476"/>
                  <a:pt x="0" y="170612"/>
                  <a:pt x="0" y="165460"/>
                </a:cubicBezTo>
                <a:cubicBezTo>
                  <a:pt x="0" y="160307"/>
                  <a:pt x="0" y="156444"/>
                  <a:pt x="1288" y="151292"/>
                </a:cubicBezTo>
                <a:cubicBezTo>
                  <a:pt x="23183" y="147428"/>
                  <a:pt x="64399" y="142276"/>
                  <a:pt x="113341" y="139700"/>
                </a:cubicBezTo>
                <a:close/>
                <a:moveTo>
                  <a:pt x="186315" y="138112"/>
                </a:moveTo>
                <a:cubicBezTo>
                  <a:pt x="215774" y="139408"/>
                  <a:pt x="243952" y="143298"/>
                  <a:pt x="268288" y="149780"/>
                </a:cubicBezTo>
                <a:cubicBezTo>
                  <a:pt x="259322" y="164042"/>
                  <a:pt x="249076" y="179599"/>
                  <a:pt x="238829" y="193860"/>
                </a:cubicBezTo>
                <a:cubicBezTo>
                  <a:pt x="234986" y="192564"/>
                  <a:pt x="231144" y="191267"/>
                  <a:pt x="227301" y="191267"/>
                </a:cubicBezTo>
                <a:cubicBezTo>
                  <a:pt x="213212" y="191267"/>
                  <a:pt x="201685" y="201639"/>
                  <a:pt x="200404" y="214604"/>
                </a:cubicBezTo>
                <a:cubicBezTo>
                  <a:pt x="194000" y="214604"/>
                  <a:pt x="186315" y="214604"/>
                  <a:pt x="179911" y="215900"/>
                </a:cubicBezTo>
                <a:cubicBezTo>
                  <a:pt x="170945" y="202936"/>
                  <a:pt x="163260" y="191267"/>
                  <a:pt x="155575" y="179599"/>
                </a:cubicBezTo>
                <a:cubicBezTo>
                  <a:pt x="160698" y="171820"/>
                  <a:pt x="167102" y="162745"/>
                  <a:pt x="173507" y="154966"/>
                </a:cubicBezTo>
                <a:cubicBezTo>
                  <a:pt x="177349" y="148483"/>
                  <a:pt x="182472" y="143298"/>
                  <a:pt x="186315" y="138112"/>
                </a:cubicBezTo>
                <a:close/>
                <a:moveTo>
                  <a:pt x="168276" y="138112"/>
                </a:moveTo>
                <a:cubicBezTo>
                  <a:pt x="165630" y="140597"/>
                  <a:pt x="164307" y="143081"/>
                  <a:pt x="161661" y="145566"/>
                </a:cubicBezTo>
                <a:cubicBezTo>
                  <a:pt x="156370" y="153020"/>
                  <a:pt x="151078" y="159232"/>
                  <a:pt x="145786" y="166687"/>
                </a:cubicBezTo>
                <a:cubicBezTo>
                  <a:pt x="144463" y="165445"/>
                  <a:pt x="143140" y="162960"/>
                  <a:pt x="141817" y="161718"/>
                </a:cubicBezTo>
                <a:cubicBezTo>
                  <a:pt x="137849" y="154263"/>
                  <a:pt x="132557" y="146808"/>
                  <a:pt x="128588" y="139354"/>
                </a:cubicBezTo>
                <a:cubicBezTo>
                  <a:pt x="141817" y="139354"/>
                  <a:pt x="155047" y="138112"/>
                  <a:pt x="168276" y="138112"/>
                </a:cubicBezTo>
                <a:close/>
                <a:moveTo>
                  <a:pt x="220028" y="103187"/>
                </a:moveTo>
                <a:cubicBezTo>
                  <a:pt x="223838" y="104486"/>
                  <a:pt x="227648" y="105784"/>
                  <a:pt x="232728" y="105784"/>
                </a:cubicBezTo>
                <a:cubicBezTo>
                  <a:pt x="233998" y="105784"/>
                  <a:pt x="236538" y="105784"/>
                  <a:pt x="237808" y="105784"/>
                </a:cubicBezTo>
                <a:cubicBezTo>
                  <a:pt x="241618" y="109681"/>
                  <a:pt x="244158" y="114877"/>
                  <a:pt x="246698" y="118773"/>
                </a:cubicBezTo>
                <a:cubicBezTo>
                  <a:pt x="249238" y="122670"/>
                  <a:pt x="253048" y="127865"/>
                  <a:pt x="255588" y="131762"/>
                </a:cubicBezTo>
                <a:cubicBezTo>
                  <a:pt x="237808" y="129164"/>
                  <a:pt x="218758" y="126566"/>
                  <a:pt x="198438" y="125267"/>
                </a:cubicBezTo>
                <a:cubicBezTo>
                  <a:pt x="206058" y="117474"/>
                  <a:pt x="213678" y="109681"/>
                  <a:pt x="220028" y="103187"/>
                </a:cubicBezTo>
                <a:close/>
                <a:moveTo>
                  <a:pt x="317236" y="98425"/>
                </a:moveTo>
                <a:cubicBezTo>
                  <a:pt x="325173" y="115539"/>
                  <a:pt x="329142" y="133969"/>
                  <a:pt x="331788" y="152400"/>
                </a:cubicBezTo>
                <a:cubicBezTo>
                  <a:pt x="319882" y="148450"/>
                  <a:pt x="306652" y="144501"/>
                  <a:pt x="292100" y="140552"/>
                </a:cubicBezTo>
                <a:cubicBezTo>
                  <a:pt x="301361" y="124754"/>
                  <a:pt x="310621" y="111589"/>
                  <a:pt x="317236" y="98425"/>
                </a:cubicBezTo>
                <a:close/>
                <a:moveTo>
                  <a:pt x="286068" y="52387"/>
                </a:moveTo>
                <a:cubicBezTo>
                  <a:pt x="295205" y="61448"/>
                  <a:pt x="303037" y="71803"/>
                  <a:pt x="309563" y="84748"/>
                </a:cubicBezTo>
                <a:cubicBezTo>
                  <a:pt x="301731" y="98986"/>
                  <a:pt x="289984" y="117108"/>
                  <a:pt x="278236" y="136525"/>
                </a:cubicBezTo>
                <a:cubicBezTo>
                  <a:pt x="278236" y="136525"/>
                  <a:pt x="276931" y="136525"/>
                  <a:pt x="276931" y="136525"/>
                </a:cubicBezTo>
                <a:cubicBezTo>
                  <a:pt x="270404" y="127464"/>
                  <a:pt x="265183" y="119697"/>
                  <a:pt x="258657" y="110636"/>
                </a:cubicBezTo>
                <a:cubicBezTo>
                  <a:pt x="256046" y="106753"/>
                  <a:pt x="253436" y="102870"/>
                  <a:pt x="250825" y="98986"/>
                </a:cubicBezTo>
                <a:cubicBezTo>
                  <a:pt x="256046" y="93809"/>
                  <a:pt x="259962" y="86042"/>
                  <a:pt x="259962" y="78275"/>
                </a:cubicBezTo>
                <a:cubicBezTo>
                  <a:pt x="259962" y="75687"/>
                  <a:pt x="259962" y="73098"/>
                  <a:pt x="258657" y="70509"/>
                </a:cubicBezTo>
                <a:cubicBezTo>
                  <a:pt x="269099" y="62742"/>
                  <a:pt x="278236" y="57564"/>
                  <a:pt x="286068" y="52387"/>
                </a:cubicBezTo>
                <a:close/>
                <a:moveTo>
                  <a:pt x="73025" y="28575"/>
                </a:moveTo>
                <a:cubicBezTo>
                  <a:pt x="79493" y="54655"/>
                  <a:pt x="92428" y="92472"/>
                  <a:pt x="107950" y="126377"/>
                </a:cubicBezTo>
                <a:cubicBezTo>
                  <a:pt x="63970" y="128985"/>
                  <a:pt x="25165" y="134201"/>
                  <a:pt x="3175" y="138113"/>
                </a:cubicBezTo>
                <a:cubicBezTo>
                  <a:pt x="10936" y="92472"/>
                  <a:pt x="36806" y="53351"/>
                  <a:pt x="73025" y="28575"/>
                </a:cubicBezTo>
                <a:close/>
                <a:moveTo>
                  <a:pt x="203200" y="4762"/>
                </a:moveTo>
                <a:cubicBezTo>
                  <a:pt x="230476" y="11151"/>
                  <a:pt x="255155" y="23928"/>
                  <a:pt x="274638" y="41817"/>
                </a:cubicBezTo>
                <a:cubicBezTo>
                  <a:pt x="268144" y="45650"/>
                  <a:pt x="260350" y="52039"/>
                  <a:pt x="251258" y="57150"/>
                </a:cubicBezTo>
                <a:cubicBezTo>
                  <a:pt x="246063" y="53316"/>
                  <a:pt x="239568" y="50761"/>
                  <a:pt x="233074" y="50761"/>
                </a:cubicBezTo>
                <a:cubicBezTo>
                  <a:pt x="230476" y="50761"/>
                  <a:pt x="227879" y="50761"/>
                  <a:pt x="225281" y="52039"/>
                </a:cubicBezTo>
                <a:cubicBezTo>
                  <a:pt x="216189" y="34150"/>
                  <a:pt x="208395" y="17539"/>
                  <a:pt x="203200" y="4762"/>
                </a:cubicBezTo>
                <a:close/>
                <a:moveTo>
                  <a:pt x="165260" y="0"/>
                </a:moveTo>
                <a:cubicBezTo>
                  <a:pt x="172957" y="0"/>
                  <a:pt x="179371" y="0"/>
                  <a:pt x="185786" y="1290"/>
                </a:cubicBezTo>
                <a:cubicBezTo>
                  <a:pt x="192200" y="15478"/>
                  <a:pt x="199897" y="36115"/>
                  <a:pt x="212725" y="59333"/>
                </a:cubicBezTo>
                <a:cubicBezTo>
                  <a:pt x="207594" y="63202"/>
                  <a:pt x="205028" y="69651"/>
                  <a:pt x="205028" y="77390"/>
                </a:cubicBezTo>
                <a:cubicBezTo>
                  <a:pt x="205028" y="82550"/>
                  <a:pt x="206311" y="87709"/>
                  <a:pt x="208876" y="91579"/>
                </a:cubicBezTo>
                <a:cubicBezTo>
                  <a:pt x="198614" y="100608"/>
                  <a:pt x="188351" y="110926"/>
                  <a:pt x="179371" y="122535"/>
                </a:cubicBezTo>
                <a:cubicBezTo>
                  <a:pt x="178089" y="122535"/>
                  <a:pt x="178089" y="122535"/>
                  <a:pt x="176806" y="122535"/>
                </a:cubicBezTo>
                <a:cubicBezTo>
                  <a:pt x="158846" y="122535"/>
                  <a:pt x="139604" y="123825"/>
                  <a:pt x="122927" y="123825"/>
                </a:cubicBezTo>
                <a:cubicBezTo>
                  <a:pt x="104967" y="87709"/>
                  <a:pt x="92139" y="45144"/>
                  <a:pt x="85725" y="20637"/>
                </a:cubicBezTo>
                <a:cubicBezTo>
                  <a:pt x="108816" y="7739"/>
                  <a:pt x="135755" y="0"/>
                  <a:pt x="165260" y="0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485" name="Freeform 120"/>
          <p:cNvSpPr>
            <a:spLocks noChangeAspect="1" noEditPoints="1"/>
          </p:cNvSpPr>
          <p:nvPr/>
        </p:nvSpPr>
        <p:spPr bwMode="auto">
          <a:xfrm>
            <a:off x="962660" y="3817620"/>
            <a:ext cx="215900" cy="217170"/>
          </a:xfrm>
          <a:custGeom>
            <a:avLst/>
            <a:gdLst>
              <a:gd name="T0" fmla="*/ 360599988 w 144"/>
              <a:gd name="T1" fmla="*/ 0 h 144"/>
              <a:gd name="T2" fmla="*/ 0 w 144"/>
              <a:gd name="T3" fmla="*/ 364162578 h 144"/>
              <a:gd name="T4" fmla="*/ 360599988 w 144"/>
              <a:gd name="T5" fmla="*/ 728325156 h 144"/>
              <a:gd name="T6" fmla="*/ 721199977 w 144"/>
              <a:gd name="T7" fmla="*/ 364162578 h 144"/>
              <a:gd name="T8" fmla="*/ 360599988 w 144"/>
              <a:gd name="T9" fmla="*/ 0 h 144"/>
              <a:gd name="T10" fmla="*/ 570949795 w 144"/>
              <a:gd name="T11" fmla="*/ 515897548 h 144"/>
              <a:gd name="T12" fmla="*/ 150250182 w 144"/>
              <a:gd name="T13" fmla="*/ 515897548 h 144"/>
              <a:gd name="T14" fmla="*/ 150250182 w 144"/>
              <a:gd name="T15" fmla="*/ 313583505 h 144"/>
              <a:gd name="T16" fmla="*/ 295491875 w 144"/>
              <a:gd name="T17" fmla="*/ 414741651 h 144"/>
              <a:gd name="T18" fmla="*/ 360599988 w 144"/>
              <a:gd name="T19" fmla="*/ 434971031 h 144"/>
              <a:gd name="T20" fmla="*/ 425708102 w 144"/>
              <a:gd name="T21" fmla="*/ 414741651 h 144"/>
              <a:gd name="T22" fmla="*/ 570949795 w 144"/>
              <a:gd name="T23" fmla="*/ 313583505 h 144"/>
              <a:gd name="T24" fmla="*/ 570949795 w 144"/>
              <a:gd name="T25" fmla="*/ 515897548 h 144"/>
              <a:gd name="T26" fmla="*/ 570949795 w 144"/>
              <a:gd name="T27" fmla="*/ 252890867 h 144"/>
              <a:gd name="T28" fmla="*/ 395659408 w 144"/>
              <a:gd name="T29" fmla="*/ 374278393 h 144"/>
              <a:gd name="T30" fmla="*/ 360599988 w 144"/>
              <a:gd name="T31" fmla="*/ 384394207 h 144"/>
              <a:gd name="T32" fmla="*/ 325540568 w 144"/>
              <a:gd name="T33" fmla="*/ 374278393 h 144"/>
              <a:gd name="T34" fmla="*/ 150250182 w 144"/>
              <a:gd name="T35" fmla="*/ 252890867 h 144"/>
              <a:gd name="T36" fmla="*/ 150250182 w 144"/>
              <a:gd name="T37" fmla="*/ 212427608 h 144"/>
              <a:gd name="T38" fmla="*/ 570949795 w 144"/>
              <a:gd name="T39" fmla="*/ 212427608 h 144"/>
              <a:gd name="T40" fmla="*/ 570949795 w 144"/>
              <a:gd name="T41" fmla="*/ 252890867 h 14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14" y="102"/>
                </a:moveTo>
                <a:cubicBezTo>
                  <a:pt x="30" y="102"/>
                  <a:pt x="30" y="102"/>
                  <a:pt x="30" y="102"/>
                </a:cubicBezTo>
                <a:cubicBezTo>
                  <a:pt x="30" y="62"/>
                  <a:pt x="30" y="62"/>
                  <a:pt x="30" y="62"/>
                </a:cubicBezTo>
                <a:cubicBezTo>
                  <a:pt x="59" y="82"/>
                  <a:pt x="59" y="82"/>
                  <a:pt x="59" y="82"/>
                </a:cubicBezTo>
                <a:cubicBezTo>
                  <a:pt x="63" y="85"/>
                  <a:pt x="68" y="86"/>
                  <a:pt x="72" y="86"/>
                </a:cubicBezTo>
                <a:cubicBezTo>
                  <a:pt x="76" y="86"/>
                  <a:pt x="81" y="85"/>
                  <a:pt x="85" y="82"/>
                </a:cubicBezTo>
                <a:cubicBezTo>
                  <a:pt x="114" y="62"/>
                  <a:pt x="114" y="62"/>
                  <a:pt x="114" y="62"/>
                </a:cubicBezTo>
                <a:lnTo>
                  <a:pt x="114" y="102"/>
                </a:lnTo>
                <a:close/>
                <a:moveTo>
                  <a:pt x="114" y="50"/>
                </a:moveTo>
                <a:cubicBezTo>
                  <a:pt x="79" y="74"/>
                  <a:pt x="79" y="74"/>
                  <a:pt x="79" y="74"/>
                </a:cubicBezTo>
                <a:cubicBezTo>
                  <a:pt x="77" y="76"/>
                  <a:pt x="75" y="76"/>
                  <a:pt x="72" y="76"/>
                </a:cubicBezTo>
                <a:cubicBezTo>
                  <a:pt x="69" y="76"/>
                  <a:pt x="67" y="76"/>
                  <a:pt x="65" y="74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42"/>
                  <a:pt x="30" y="42"/>
                  <a:pt x="30" y="42"/>
                </a:cubicBezTo>
                <a:cubicBezTo>
                  <a:pt x="114" y="42"/>
                  <a:pt x="114" y="42"/>
                  <a:pt x="114" y="42"/>
                </a:cubicBezTo>
                <a:lnTo>
                  <a:pt x="114" y="50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65" name="Freeform 41"/>
          <p:cNvSpPr>
            <a:spLocks noEditPoints="1" noChangeArrowheads="1"/>
          </p:cNvSpPr>
          <p:nvPr/>
        </p:nvSpPr>
        <p:spPr bwMode="auto">
          <a:xfrm>
            <a:off x="962660" y="3475990"/>
            <a:ext cx="215900" cy="179705"/>
          </a:xfrm>
          <a:custGeom>
            <a:avLst/>
            <a:gdLst>
              <a:gd name="T0" fmla="*/ 607317235 w 105"/>
              <a:gd name="T1" fmla="*/ 165279166 h 78"/>
              <a:gd name="T2" fmla="*/ 981054861 w 105"/>
              <a:gd name="T3" fmla="*/ 543056187 h 78"/>
              <a:gd name="T4" fmla="*/ 981054861 w 105"/>
              <a:gd name="T5" fmla="*/ 590278315 h 78"/>
              <a:gd name="T6" fmla="*/ 840903679 w 105"/>
              <a:gd name="T7" fmla="*/ 637500442 h 78"/>
              <a:gd name="T8" fmla="*/ 712431477 w 105"/>
              <a:gd name="T9" fmla="*/ 649305114 h 78"/>
              <a:gd name="T10" fmla="*/ 654036574 w 105"/>
              <a:gd name="T11" fmla="*/ 613887659 h 78"/>
              <a:gd name="T12" fmla="*/ 572280294 w 105"/>
              <a:gd name="T13" fmla="*/ 613887659 h 78"/>
              <a:gd name="T14" fmla="*/ 502206411 w 105"/>
              <a:gd name="T15" fmla="*/ 684722570 h 78"/>
              <a:gd name="T16" fmla="*/ 502206411 w 105"/>
              <a:gd name="T17" fmla="*/ 684722570 h 78"/>
              <a:gd name="T18" fmla="*/ 572280294 w 105"/>
              <a:gd name="T19" fmla="*/ 755554041 h 78"/>
              <a:gd name="T20" fmla="*/ 654036574 w 105"/>
              <a:gd name="T21" fmla="*/ 755554041 h 78"/>
              <a:gd name="T22" fmla="*/ 712431477 w 105"/>
              <a:gd name="T23" fmla="*/ 708331914 h 78"/>
              <a:gd name="T24" fmla="*/ 852582659 w 105"/>
              <a:gd name="T25" fmla="*/ 696527242 h 78"/>
              <a:gd name="T26" fmla="*/ 957693484 w 105"/>
              <a:gd name="T27" fmla="*/ 661109786 h 78"/>
              <a:gd name="T28" fmla="*/ 607317235 w 105"/>
              <a:gd name="T29" fmla="*/ 920833208 h 78"/>
              <a:gd name="T30" fmla="*/ 233583026 w 105"/>
              <a:gd name="T31" fmla="*/ 543056187 h 78"/>
              <a:gd name="T32" fmla="*/ 607317235 w 105"/>
              <a:gd name="T33" fmla="*/ 165279166 h 78"/>
              <a:gd name="T34" fmla="*/ 607317235 w 105"/>
              <a:gd name="T35" fmla="*/ 0 h 78"/>
              <a:gd name="T36" fmla="*/ 233583026 w 105"/>
              <a:gd name="T37" fmla="*/ 165279166 h 78"/>
              <a:gd name="T38" fmla="*/ 93435261 w 105"/>
              <a:gd name="T39" fmla="*/ 389581693 h 78"/>
              <a:gd name="T40" fmla="*/ 70073883 w 105"/>
              <a:gd name="T41" fmla="*/ 389581693 h 78"/>
              <a:gd name="T42" fmla="*/ 0 w 105"/>
              <a:gd name="T43" fmla="*/ 472221276 h 78"/>
              <a:gd name="T44" fmla="*/ 0 w 105"/>
              <a:gd name="T45" fmla="*/ 602082987 h 78"/>
              <a:gd name="T46" fmla="*/ 70073883 w 105"/>
              <a:gd name="T47" fmla="*/ 672917898 h 78"/>
              <a:gd name="T48" fmla="*/ 175188124 w 105"/>
              <a:gd name="T49" fmla="*/ 672917898 h 78"/>
              <a:gd name="T50" fmla="*/ 175188124 w 105"/>
              <a:gd name="T51" fmla="*/ 401389804 h 78"/>
              <a:gd name="T52" fmla="*/ 291981346 w 105"/>
              <a:gd name="T53" fmla="*/ 224305966 h 78"/>
              <a:gd name="T54" fmla="*/ 607317235 w 105"/>
              <a:gd name="T55" fmla="*/ 82639583 h 78"/>
              <a:gd name="T56" fmla="*/ 934335523 w 105"/>
              <a:gd name="T57" fmla="*/ 224305966 h 78"/>
              <a:gd name="T58" fmla="*/ 1039449764 w 105"/>
              <a:gd name="T59" fmla="*/ 389581693 h 78"/>
              <a:gd name="T60" fmla="*/ 1039449764 w 105"/>
              <a:gd name="T61" fmla="*/ 672917898 h 78"/>
              <a:gd name="T62" fmla="*/ 1144564005 w 105"/>
              <a:gd name="T63" fmla="*/ 672917898 h 78"/>
              <a:gd name="T64" fmla="*/ 1226316868 w 105"/>
              <a:gd name="T65" fmla="*/ 602082987 h 78"/>
              <a:gd name="T66" fmla="*/ 1226316868 w 105"/>
              <a:gd name="T67" fmla="*/ 472221276 h 78"/>
              <a:gd name="T68" fmla="*/ 1144564005 w 105"/>
              <a:gd name="T69" fmla="*/ 389581693 h 78"/>
              <a:gd name="T70" fmla="*/ 1121202627 w 105"/>
              <a:gd name="T71" fmla="*/ 389581693 h 78"/>
              <a:gd name="T72" fmla="*/ 992733842 w 105"/>
              <a:gd name="T73" fmla="*/ 165279166 h 78"/>
              <a:gd name="T74" fmla="*/ 607317235 w 105"/>
              <a:gd name="T75" fmla="*/ 0 h 7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5"/>
              <a:gd name="T115" fmla="*/ 0 h 78"/>
              <a:gd name="T116" fmla="*/ 105 w 105"/>
              <a:gd name="T117" fmla="*/ 78 h 7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iconfont-1191-801535"/>
          <p:cNvSpPr/>
          <p:nvPr/>
        </p:nvSpPr>
        <p:spPr bwMode="auto">
          <a:xfrm>
            <a:off x="981075" y="4205605"/>
            <a:ext cx="179705" cy="215900"/>
          </a:xfrm>
          <a:custGeom>
            <a:avLst/>
            <a:gdLst>
              <a:gd name="T0" fmla="*/ 3166 w 6332"/>
              <a:gd name="T1" fmla="*/ 0 h 8034"/>
              <a:gd name="T2" fmla="*/ 0 w 6332"/>
              <a:gd name="T3" fmla="*/ 3166 h 8034"/>
              <a:gd name="T4" fmla="*/ 2481 w 6332"/>
              <a:gd name="T5" fmla="*/ 7590 h 8034"/>
              <a:gd name="T6" fmla="*/ 3853 w 6332"/>
              <a:gd name="T7" fmla="*/ 7588 h 8034"/>
              <a:gd name="T8" fmla="*/ 6332 w 6332"/>
              <a:gd name="T9" fmla="*/ 3166 h 8034"/>
              <a:gd name="T10" fmla="*/ 3166 w 6332"/>
              <a:gd name="T11" fmla="*/ 0 h 8034"/>
              <a:gd name="T12" fmla="*/ 3166 w 6332"/>
              <a:gd name="T13" fmla="*/ 0 h 8034"/>
              <a:gd name="T14" fmla="*/ 3166 w 6332"/>
              <a:gd name="T15" fmla="*/ 0 h 8034"/>
              <a:gd name="T16" fmla="*/ 3166 w 6332"/>
              <a:gd name="T17" fmla="*/ 0 h 8034"/>
              <a:gd name="T18" fmla="*/ 3166 w 6332"/>
              <a:gd name="T19" fmla="*/ 4529 h 8034"/>
              <a:gd name="T20" fmla="*/ 1702 w 6332"/>
              <a:gd name="T21" fmla="*/ 3065 h 8034"/>
              <a:gd name="T22" fmla="*/ 3166 w 6332"/>
              <a:gd name="T23" fmla="*/ 1600 h 8034"/>
              <a:gd name="T24" fmla="*/ 4630 w 6332"/>
              <a:gd name="T25" fmla="*/ 3065 h 8034"/>
              <a:gd name="T26" fmla="*/ 3166 w 6332"/>
              <a:gd name="T27" fmla="*/ 4529 h 8034"/>
              <a:gd name="T28" fmla="*/ 3166 w 6332"/>
              <a:gd name="T29" fmla="*/ 4529 h 8034"/>
              <a:gd name="T30" fmla="*/ 3166 w 6332"/>
              <a:gd name="T31" fmla="*/ 4529 h 8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332" h="8034">
                <a:moveTo>
                  <a:pt x="3166" y="0"/>
                </a:moveTo>
                <a:cubicBezTo>
                  <a:pt x="1418" y="0"/>
                  <a:pt x="0" y="1418"/>
                  <a:pt x="0" y="3166"/>
                </a:cubicBezTo>
                <a:cubicBezTo>
                  <a:pt x="0" y="4914"/>
                  <a:pt x="2481" y="7590"/>
                  <a:pt x="2481" y="7590"/>
                </a:cubicBezTo>
                <a:cubicBezTo>
                  <a:pt x="2859" y="8031"/>
                  <a:pt x="3478" y="8034"/>
                  <a:pt x="3853" y="7588"/>
                </a:cubicBezTo>
                <a:cubicBezTo>
                  <a:pt x="3853" y="7588"/>
                  <a:pt x="6332" y="4914"/>
                  <a:pt x="6332" y="3166"/>
                </a:cubicBezTo>
                <a:cubicBezTo>
                  <a:pt x="6332" y="1418"/>
                  <a:pt x="4914" y="0"/>
                  <a:pt x="3166" y="0"/>
                </a:cubicBezTo>
                <a:lnTo>
                  <a:pt x="3166" y="0"/>
                </a:lnTo>
                <a:lnTo>
                  <a:pt x="3166" y="0"/>
                </a:lnTo>
                <a:lnTo>
                  <a:pt x="3166" y="0"/>
                </a:lnTo>
                <a:close/>
                <a:moveTo>
                  <a:pt x="3166" y="4529"/>
                </a:moveTo>
                <a:cubicBezTo>
                  <a:pt x="2357" y="4529"/>
                  <a:pt x="1702" y="3874"/>
                  <a:pt x="1702" y="3065"/>
                </a:cubicBezTo>
                <a:cubicBezTo>
                  <a:pt x="1702" y="2256"/>
                  <a:pt x="2357" y="1600"/>
                  <a:pt x="3166" y="1600"/>
                </a:cubicBezTo>
                <a:cubicBezTo>
                  <a:pt x="3975" y="1600"/>
                  <a:pt x="4630" y="2256"/>
                  <a:pt x="4630" y="3065"/>
                </a:cubicBezTo>
                <a:cubicBezTo>
                  <a:pt x="4630" y="3874"/>
                  <a:pt x="3975" y="4529"/>
                  <a:pt x="3166" y="4529"/>
                </a:cubicBezTo>
                <a:lnTo>
                  <a:pt x="3166" y="4529"/>
                </a:lnTo>
                <a:close/>
                <a:moveTo>
                  <a:pt x="3166" y="4529"/>
                </a:move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204050" y="4435483"/>
            <a:ext cx="3018390" cy="3120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287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  <a:hlinkClick r:id="rId7"/>
              </a:rPr>
              <a:t>www.hoperf.cn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</a:rPr>
              <a:t>  |  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  <a:hlinkClick r:id="rId8"/>
              </a:rPr>
              <a:t>www.hoperf.com</a:t>
            </a:r>
            <a:r>
              <a:rPr lang="en-US" altLang="zh-CN" sz="1200" dirty="0">
                <a:solidFill>
                  <a:srgbClr val="C00000"/>
                </a:solidFill>
                <a:latin typeface="Arial Black" panose="020B0A04020102020204" pitchFamily="34" charset="0"/>
                <a:ea typeface="思源黑体 CN Normal" panose="020B0400000000000000" charset="-122"/>
                <a:cs typeface="+mn-lt"/>
              </a:rPr>
              <a:t>  </a:t>
            </a:r>
          </a:p>
        </p:txBody>
      </p:sp>
      <p:sp>
        <p:nvSpPr>
          <p:cNvPr id="43" name="Freeform 7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8195945" y="6055360"/>
            <a:ext cx="435610" cy="400050"/>
          </a:xfrm>
          <a:custGeom>
            <a:avLst/>
            <a:gdLst>
              <a:gd name="T0" fmla="*/ 2147483647 w 177"/>
              <a:gd name="T1" fmla="*/ 2147483647 h 164"/>
              <a:gd name="T2" fmla="*/ 2147483647 w 177"/>
              <a:gd name="T3" fmla="*/ 2147483647 h 164"/>
              <a:gd name="T4" fmla="*/ 2147483647 w 177"/>
              <a:gd name="T5" fmla="*/ 2147483647 h 164"/>
              <a:gd name="T6" fmla="*/ 2147483647 w 177"/>
              <a:gd name="T7" fmla="*/ 2147483647 h 164"/>
              <a:gd name="T8" fmla="*/ 2147483647 w 177"/>
              <a:gd name="T9" fmla="*/ 2147483647 h 164"/>
              <a:gd name="T10" fmla="*/ 2147483647 w 177"/>
              <a:gd name="T11" fmla="*/ 2147483647 h 164"/>
              <a:gd name="T12" fmla="*/ 2147483647 w 177"/>
              <a:gd name="T13" fmla="*/ 2147483647 h 164"/>
              <a:gd name="T14" fmla="*/ 2147483647 w 177"/>
              <a:gd name="T15" fmla="*/ 2147483647 h 164"/>
              <a:gd name="T16" fmla="*/ 2147483647 w 177"/>
              <a:gd name="T17" fmla="*/ 2147483647 h 164"/>
              <a:gd name="T18" fmla="*/ 2147483647 w 177"/>
              <a:gd name="T19" fmla="*/ 2147483647 h 164"/>
              <a:gd name="T20" fmla="*/ 2147483647 w 177"/>
              <a:gd name="T21" fmla="*/ 2147483647 h 164"/>
              <a:gd name="T22" fmla="*/ 2147483647 w 177"/>
              <a:gd name="T23" fmla="*/ 0 h 164"/>
              <a:gd name="T24" fmla="*/ 2147483647 w 177"/>
              <a:gd name="T25" fmla="*/ 2147483647 h 164"/>
              <a:gd name="T26" fmla="*/ 2147483647 w 177"/>
              <a:gd name="T27" fmla="*/ 2147483647 h 164"/>
              <a:gd name="T28" fmla="*/ 2147483647 w 177"/>
              <a:gd name="T29" fmla="*/ 2147483647 h 164"/>
              <a:gd name="T30" fmla="*/ 2147483647 w 177"/>
              <a:gd name="T31" fmla="*/ 2147483647 h 164"/>
              <a:gd name="T32" fmla="*/ 2147483647 w 177"/>
              <a:gd name="T33" fmla="*/ 2147483647 h 164"/>
              <a:gd name="T34" fmla="*/ 2147483647 w 177"/>
              <a:gd name="T35" fmla="*/ 2147483647 h 164"/>
              <a:gd name="T36" fmla="*/ 2147483647 w 177"/>
              <a:gd name="T37" fmla="*/ 2147483647 h 164"/>
              <a:gd name="T38" fmla="*/ 2147483647 w 177"/>
              <a:gd name="T39" fmla="*/ 2147483647 h 164"/>
              <a:gd name="T40" fmla="*/ 2147483647 w 177"/>
              <a:gd name="T41" fmla="*/ 2147483647 h 164"/>
              <a:gd name="T42" fmla="*/ 2147483647 w 177"/>
              <a:gd name="T43" fmla="*/ 2147483647 h 164"/>
              <a:gd name="T44" fmla="*/ 2147483647 w 177"/>
              <a:gd name="T45" fmla="*/ 2147483647 h 164"/>
              <a:gd name="T46" fmla="*/ 2147483647 w 177"/>
              <a:gd name="T47" fmla="*/ 2147483647 h 164"/>
              <a:gd name="T48" fmla="*/ 2147483647 w 177"/>
              <a:gd name="T49" fmla="*/ 2147483647 h 164"/>
              <a:gd name="T50" fmla="*/ 2147483647 w 177"/>
              <a:gd name="T51" fmla="*/ 2147483647 h 164"/>
              <a:gd name="T52" fmla="*/ 2147483647 w 177"/>
              <a:gd name="T53" fmla="*/ 2147483647 h 164"/>
              <a:gd name="T54" fmla="*/ 2147483647 w 177"/>
              <a:gd name="T55" fmla="*/ 2147483647 h 164"/>
              <a:gd name="T56" fmla="*/ 2147483647 w 177"/>
              <a:gd name="T57" fmla="*/ 2147483647 h 164"/>
              <a:gd name="T58" fmla="*/ 2147483647 w 177"/>
              <a:gd name="T59" fmla="*/ 0 h 164"/>
              <a:gd name="T60" fmla="*/ 2147483647 w 177"/>
              <a:gd name="T61" fmla="*/ 2147483647 h 164"/>
              <a:gd name="T62" fmla="*/ 2147483647 w 177"/>
              <a:gd name="T63" fmla="*/ 2147483647 h 164"/>
              <a:gd name="T64" fmla="*/ 2147483647 w 177"/>
              <a:gd name="T65" fmla="*/ 2147483647 h 164"/>
              <a:gd name="T66" fmla="*/ 2147483647 w 177"/>
              <a:gd name="T67" fmla="*/ 2147483647 h 164"/>
              <a:gd name="T68" fmla="*/ 2147483647 w 177"/>
              <a:gd name="T69" fmla="*/ 2147483647 h 164"/>
              <a:gd name="T70" fmla="*/ 2147483647 w 177"/>
              <a:gd name="T71" fmla="*/ 2147483647 h 164"/>
              <a:gd name="T72" fmla="*/ 2147483647 w 177"/>
              <a:gd name="T73" fmla="*/ 2147483647 h 164"/>
              <a:gd name="T74" fmla="*/ 2147483647 w 177"/>
              <a:gd name="T75" fmla="*/ 2147483647 h 164"/>
              <a:gd name="T76" fmla="*/ 2147483647 w 177"/>
              <a:gd name="T77" fmla="*/ 2147483647 h 164"/>
              <a:gd name="T78" fmla="*/ 2147483647 w 177"/>
              <a:gd name="T79" fmla="*/ 2147483647 h 164"/>
              <a:gd name="T80" fmla="*/ 2147483647 w 177"/>
              <a:gd name="T81" fmla="*/ 2147483647 h 16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77" h="164">
                <a:moveTo>
                  <a:pt x="31" y="94"/>
                </a:moveTo>
                <a:cubicBezTo>
                  <a:pt x="19" y="94"/>
                  <a:pt x="19" y="94"/>
                  <a:pt x="19" y="94"/>
                </a:cubicBezTo>
                <a:cubicBezTo>
                  <a:pt x="9" y="94"/>
                  <a:pt x="1" y="89"/>
                  <a:pt x="1" y="79"/>
                </a:cubicBezTo>
                <a:cubicBezTo>
                  <a:pt x="1" y="72"/>
                  <a:pt x="0" y="47"/>
                  <a:pt x="12" y="47"/>
                </a:cubicBezTo>
                <a:cubicBezTo>
                  <a:pt x="14" y="47"/>
                  <a:pt x="24" y="55"/>
                  <a:pt x="36" y="55"/>
                </a:cubicBezTo>
                <a:cubicBezTo>
                  <a:pt x="40" y="55"/>
                  <a:pt x="44" y="54"/>
                  <a:pt x="48" y="52"/>
                </a:cubicBezTo>
                <a:cubicBezTo>
                  <a:pt x="48" y="54"/>
                  <a:pt x="48" y="57"/>
                  <a:pt x="48" y="59"/>
                </a:cubicBezTo>
                <a:cubicBezTo>
                  <a:pt x="48" y="67"/>
                  <a:pt x="50" y="75"/>
                  <a:pt x="55" y="82"/>
                </a:cubicBezTo>
                <a:cubicBezTo>
                  <a:pt x="46" y="82"/>
                  <a:pt x="37" y="86"/>
                  <a:pt x="31" y="94"/>
                </a:cubicBezTo>
                <a:close/>
                <a:moveTo>
                  <a:pt x="36" y="47"/>
                </a:moveTo>
                <a:cubicBezTo>
                  <a:pt x="23" y="47"/>
                  <a:pt x="12" y="36"/>
                  <a:pt x="12" y="23"/>
                </a:cubicBezTo>
                <a:cubicBezTo>
                  <a:pt x="12" y="10"/>
                  <a:pt x="23" y="0"/>
                  <a:pt x="36" y="0"/>
                </a:cubicBezTo>
                <a:cubicBezTo>
                  <a:pt x="49" y="0"/>
                  <a:pt x="59" y="10"/>
                  <a:pt x="59" y="23"/>
                </a:cubicBezTo>
                <a:cubicBezTo>
                  <a:pt x="59" y="36"/>
                  <a:pt x="49" y="47"/>
                  <a:pt x="36" y="47"/>
                </a:cubicBezTo>
                <a:close/>
                <a:moveTo>
                  <a:pt x="129" y="164"/>
                </a:moveTo>
                <a:cubicBezTo>
                  <a:pt x="49" y="164"/>
                  <a:pt x="49" y="164"/>
                  <a:pt x="49" y="164"/>
                </a:cubicBezTo>
                <a:cubicBezTo>
                  <a:pt x="34" y="164"/>
                  <a:pt x="24" y="155"/>
                  <a:pt x="24" y="140"/>
                </a:cubicBezTo>
                <a:cubicBezTo>
                  <a:pt x="24" y="120"/>
                  <a:pt x="29" y="88"/>
                  <a:pt x="56" y="88"/>
                </a:cubicBezTo>
                <a:cubicBezTo>
                  <a:pt x="59" y="88"/>
                  <a:pt x="70" y="101"/>
                  <a:pt x="89" y="101"/>
                </a:cubicBezTo>
                <a:cubicBezTo>
                  <a:pt x="107" y="101"/>
                  <a:pt x="118" y="88"/>
                  <a:pt x="121" y="88"/>
                </a:cubicBezTo>
                <a:cubicBezTo>
                  <a:pt x="148" y="88"/>
                  <a:pt x="153" y="120"/>
                  <a:pt x="153" y="140"/>
                </a:cubicBezTo>
                <a:cubicBezTo>
                  <a:pt x="153" y="155"/>
                  <a:pt x="143" y="164"/>
                  <a:pt x="129" y="164"/>
                </a:cubicBezTo>
                <a:close/>
                <a:moveTo>
                  <a:pt x="89" y="94"/>
                </a:moveTo>
                <a:cubicBezTo>
                  <a:pt x="69" y="94"/>
                  <a:pt x="53" y="78"/>
                  <a:pt x="53" y="59"/>
                </a:cubicBezTo>
                <a:cubicBezTo>
                  <a:pt x="53" y="39"/>
                  <a:pt x="69" y="23"/>
                  <a:pt x="89" y="23"/>
                </a:cubicBezTo>
                <a:cubicBezTo>
                  <a:pt x="108" y="23"/>
                  <a:pt x="124" y="39"/>
                  <a:pt x="124" y="59"/>
                </a:cubicBezTo>
                <a:cubicBezTo>
                  <a:pt x="124" y="78"/>
                  <a:pt x="108" y="94"/>
                  <a:pt x="89" y="94"/>
                </a:cubicBezTo>
                <a:close/>
                <a:moveTo>
                  <a:pt x="141" y="47"/>
                </a:moveTo>
                <a:cubicBezTo>
                  <a:pt x="128" y="47"/>
                  <a:pt x="118" y="36"/>
                  <a:pt x="118" y="23"/>
                </a:cubicBezTo>
                <a:cubicBezTo>
                  <a:pt x="118" y="10"/>
                  <a:pt x="128" y="0"/>
                  <a:pt x="141" y="0"/>
                </a:cubicBezTo>
                <a:cubicBezTo>
                  <a:pt x="154" y="0"/>
                  <a:pt x="165" y="10"/>
                  <a:pt x="165" y="23"/>
                </a:cubicBezTo>
                <a:cubicBezTo>
                  <a:pt x="165" y="36"/>
                  <a:pt x="154" y="47"/>
                  <a:pt x="141" y="47"/>
                </a:cubicBezTo>
                <a:close/>
                <a:moveTo>
                  <a:pt x="159" y="94"/>
                </a:moveTo>
                <a:cubicBezTo>
                  <a:pt x="146" y="94"/>
                  <a:pt x="146" y="94"/>
                  <a:pt x="146" y="94"/>
                </a:cubicBezTo>
                <a:cubicBezTo>
                  <a:pt x="140" y="86"/>
                  <a:pt x="132" y="82"/>
                  <a:pt x="122" y="82"/>
                </a:cubicBezTo>
                <a:cubicBezTo>
                  <a:pt x="127" y="75"/>
                  <a:pt x="130" y="67"/>
                  <a:pt x="130" y="59"/>
                </a:cubicBezTo>
                <a:cubicBezTo>
                  <a:pt x="130" y="57"/>
                  <a:pt x="129" y="54"/>
                  <a:pt x="129" y="52"/>
                </a:cubicBezTo>
                <a:cubicBezTo>
                  <a:pt x="133" y="54"/>
                  <a:pt x="137" y="55"/>
                  <a:pt x="141" y="55"/>
                </a:cubicBezTo>
                <a:cubicBezTo>
                  <a:pt x="154" y="55"/>
                  <a:pt x="163" y="47"/>
                  <a:pt x="165" y="47"/>
                </a:cubicBezTo>
                <a:cubicBezTo>
                  <a:pt x="177" y="47"/>
                  <a:pt x="177" y="72"/>
                  <a:pt x="177" y="79"/>
                </a:cubicBezTo>
                <a:cubicBezTo>
                  <a:pt x="177" y="89"/>
                  <a:pt x="168" y="94"/>
                  <a:pt x="159" y="94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lIns="121920" tIns="60960" rIns="121920" bIns="6096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1051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143000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033271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本版修订说明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1399031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以 Matter 1.5 规范 + SDK 源码逐条核对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20756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2167128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057400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验签在配网流程中的位置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423160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从 PASE 会话到 AddNOC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" y="30998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3191256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3081528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三张证书与一份声明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447288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PAA / PAI / DAC / CD 各自的角色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4123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4215383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4105656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VID/PID 编码细节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471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Matter OID、preferred/fallback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" y="5148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5239512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5129784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验签全流程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5495544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SDK 真实执行的 12 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051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1143000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1033271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CD 深度解析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1399031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CMS 结构、6 把钥匙、交叉校验矩阵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20756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167128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2057400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常见疑问 FAQ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2423160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PAI 能否带 PID 列表？PID 不在 CD？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30998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8776" y="3191256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3081528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设备端落地（Silabs）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3447288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Provider 接口、NVM3、私钥不出安全区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4123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4215383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4105656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错误码与排查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8" y="4471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AttestationVerificationResult 速查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5148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5239512"/>
            <a:ext cx="56692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129784"/>
            <a:ext cx="4754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333333"/>
                </a:solidFill>
                <a:latin typeface="微软雅黑"/>
                <a:ea typeface="微软雅黑"/>
              </a:rPr>
              <a:t>生产 Checklist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008" y="5495544"/>
            <a:ext cx="4754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从开发到量产的检查清单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本版修订了什么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60120"/>
          <a:ext cx="11256262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960"/>
                <a:gridCol w="4101858"/>
                <a:gridCol w="6677444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旧版说法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正确说法（本版）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的 pathLen 可为 0 或 1，pathLen:0 = PAA 直接签发 DAC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pathLen 缺省或必须为 1；v1.5 链路必须恰好 3 层（PAA→PAI→DAC）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KeyUsage = keyCertSign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keyCertSign + cRLSign 两位同时置 1（digitalSignature 可选）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的 security_level 是 32-bit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8-bit（SDK：uint8_t SecurityLevel）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校验基准是 DAC 的 VID/PID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第一基准是 Basic Information 集群，之后才交叉 DAC/PAI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AttestationResponse 的 Tag2=DAC、Tag3=PAI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DAC/PAI 走 CertificateChainRequest 单独获取（1=DAC、2=PAI）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校验在 attestation 签名验证之前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SDK 真实顺序：签名→找 PAA→链验证→nonce→CD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6053328"/>
            <a:ext cx="1125626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依据：Matter Core Spec R1.5（23-27349-009）逐条核对 + Silicon Labs Matter SDK 源码逐行核对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本版新增 / 加强了什么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850392"/>
            <a:ext cx="11256264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在旧版正确内容（证书链架构、SKID/AKID、签名算法、配网时序、日志分析）之上，新增：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1481328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53896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333333"/>
                </a:solidFill>
                <a:latin typeface="微软雅黑"/>
                <a:ea typeface="微软雅黑"/>
              </a:rPr>
              <a:t>SDK 真实 12 步验证序列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55648"/>
            <a:ext cx="107899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对齐 DefaultDACVerifier::VerifyAttestationInformation 实际执行顺序，每步带错误码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2267712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240280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333333"/>
                </a:solidFill>
                <a:latin typeface="微软雅黑"/>
                <a:ea typeface="微软雅黑"/>
              </a:rPr>
              <a:t>CD 验签公钥全表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42032"/>
            <a:ext cx="107899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SDK 内置 6 把钥匙：1 把测试 + 官方 001~005，含完整 Key ID 与选用逻辑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3054096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026664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333333"/>
                </a:solidFill>
                <a:latin typeface="微软雅黑"/>
                <a:ea typeface="微软雅黑"/>
              </a:rPr>
              <a:t>dac_origin（ODM 贴牌）校验矩阵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28415"/>
            <a:ext cx="107899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“Basic Info 报品牌身份、DAC 报原厂身份、CD 把两者绑定”的完整逻辑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" y="3840480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3813048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333333"/>
                </a:solidFill>
                <a:latin typeface="微软雅黑"/>
                <a:ea typeface="微软雅黑"/>
              </a:rPr>
              <a:t>PAI.PID 与 CD 列表的联动规则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114800"/>
            <a:ext cx="107899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PAI 带 PID 时该 PID 也必须在 CD.product_id_array 内（SDK 强制）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" y="4626864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599432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333333"/>
                </a:solidFill>
                <a:latin typeface="微软雅黑"/>
                <a:ea typeface="微软雅黑"/>
              </a:rPr>
              <a:t>设备端落地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901184"/>
            <a:ext cx="107899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Provider 接口、“私钥不出安全区”、NOCSR 复用 DAC 私钥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" y="5413248"/>
            <a:ext cx="128016" cy="5486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385816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333333"/>
                </a:solidFill>
                <a:latin typeface="微软雅黑"/>
                <a:ea typeface="微软雅黑"/>
              </a:rPr>
              <a:t>DCL 吊销机制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687568"/>
            <a:ext cx="107899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为什么 Matter 不用 OCSP、证书里的 cRLDistributionPoints 为什么被忽略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验签发生在配网流程的哪里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86968" y="1554480"/>
            <a:ext cx="0" cy="201168"/>
          </a:xfrm>
          <a:prstGeom prst="line">
            <a:avLst/>
          </a:prstGeom>
          <a:ln w="15240">
            <a:solidFill>
              <a:srgbClr val="BBBB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94944" y="987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6F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042416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25295" y="932688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9601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1F6FC5"/>
                </a:solidFill>
                <a:latin typeface="微软雅黑"/>
                <a:ea typeface="微软雅黑"/>
              </a:rPr>
              <a:t>PASE 会话建立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07008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BLE → SPAKE2+；派生 16 字节 AttestationChallenge（保密，不上链路）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" y="2304288"/>
            <a:ext cx="0" cy="201168"/>
          </a:xfrm>
          <a:prstGeom prst="line">
            <a:avLst/>
          </a:prstGeom>
          <a:ln w="15240">
            <a:solidFill>
              <a:srgbClr val="BBBB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6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92224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5" y="1682495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7099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E6604D"/>
                </a:solidFill>
                <a:latin typeface="微软雅黑"/>
                <a:ea typeface="微软雅黑"/>
              </a:rPr>
              <a:t>请求 PAI 证书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56815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CertificateChainRequest { CertificateType = 2 } → CertificateChainResponse（≤600B DER）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" y="3054096"/>
            <a:ext cx="0" cy="201167"/>
          </a:xfrm>
          <a:prstGeom prst="line">
            <a:avLst/>
          </a:prstGeom>
          <a:ln w="15240">
            <a:solidFill>
              <a:srgbClr val="BBBB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" y="24871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542032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5295" y="2432303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459736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请求 DAC 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706624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CertificateChainRequest { CertificateType = 1 } → CertificateChainResponse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" y="3803904"/>
            <a:ext cx="0" cy="201168"/>
          </a:xfrm>
          <a:prstGeom prst="line">
            <a:avLst/>
          </a:prstGeom>
          <a:ln w="15240">
            <a:solidFill>
              <a:srgbClr val="BBBB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4944" y="3236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291840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5295" y="3182112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09544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设备认证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56432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AttestationRequest { nonce 32B } → AttestationResponse { elements ≤900B + 签名 64B }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968" y="4553712"/>
            <a:ext cx="0" cy="201167"/>
          </a:xfrm>
          <a:prstGeom prst="line">
            <a:avLst/>
          </a:prstGeom>
          <a:ln w="15240">
            <a:solidFill>
              <a:srgbClr val="BBBB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4944" y="398678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041647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5295" y="3931920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959351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本地验证 12 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20624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阶段 kAttestationVerification（第 16-18 页展开）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" y="5303520"/>
            <a:ext cx="0" cy="201168"/>
          </a:xfrm>
          <a:prstGeom prst="line">
            <a:avLst/>
          </a:prstGeom>
          <a:ln w="15240">
            <a:solidFill>
              <a:srgbClr val="BBBB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4944" y="4736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791455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5295" y="4681728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709159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808080"/>
                </a:solidFill>
                <a:latin typeface="微软雅黑"/>
                <a:ea typeface="微软雅黑"/>
              </a:rPr>
              <a:t>吊销检查（可选）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956048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阶段 kAttestationRevocationCheck，查 DCL；无 delegate 时打印 WARNING 跳过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" y="5486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6F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541264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25295" y="5431536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45896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1F6FC5"/>
                </a:solidFill>
                <a:latin typeface="微软雅黑"/>
                <a:ea typeface="微软雅黑"/>
              </a:rPr>
              <a:t>CSR → AddNOC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705856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阶段 kSendOpCertSigningRequest；nocsr_tbs = nocsr_elements || challenge，仍用 DAC 私钥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" y="6355080"/>
            <a:ext cx="11256264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1">
                <a:solidFill>
                  <a:srgbClr val="808080"/>
                </a:solidFill>
                <a:latin typeface="微软雅黑"/>
                <a:ea typeface="微软雅黑"/>
              </a:rPr>
              <a:t>阶段名来自 SDK src/controller/CommissioningDelegate.h，与 chip-tool 日志一一对应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证书链与 CD 为什么分开传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5486400" cy="2834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078992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E6604D"/>
                </a:solidFill>
                <a:latin typeface="微软雅黑"/>
                <a:ea typeface="微软雅黑"/>
              </a:rPr>
              <a:t>证书链：静态身份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481328"/>
            <a:ext cx="5120640" cy="2194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CertificateChainRequest / Response 命令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内容静态不变 → 取一次可缓存复用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每张 ≤ 600 字节 DER（§6.1.3）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DAC / PAI 证书本体，证明“我是谁”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7" y="960120"/>
            <a:ext cx="5486400" cy="2834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078992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1F6FC5"/>
                </a:solidFill>
                <a:latin typeface="微软雅黑"/>
                <a:ea typeface="微软雅黑"/>
              </a:rPr>
              <a:t>CD + nonce + 时间戳：动态证据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481328"/>
            <a:ext cx="5120640" cy="2194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AttestationRequest / Response 命令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绑定本次配网 + 当前安全会话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nonce 防重放、challenge 防挪用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证明“这个型号通过了认证且是它本人在回答”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4069080"/>
            <a:ext cx="11256264" cy="173736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224528"/>
            <a:ext cx="10799064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⚠ 纠正一个常见误解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AttestationResponse 里并没有 DAC/PAI 证书！它只有 2 个字段：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AttestationElements [0]（≤900B，内嵌 CD+nonce+时间戳）    AttestationSignature [1]（64B r||s）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808080"/>
                </a:solidFill>
                <a:latin typeface="微软雅黑"/>
                <a:ea typeface="微软雅黑"/>
              </a:rPr>
              <a:t>证书本体只能从 CertificateChainResponse 拿（规范 §11.18.6.2 / §11.18.4.6）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用一个类比建立直觉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1051560"/>
          <a:ext cx="11256262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6894"/>
                <a:gridCol w="2080989"/>
                <a:gridCol w="614837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现实世界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Matter 世界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公安部 / 根身份证签发机构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信任锚点，Commissioner 只信任名单上的 PAA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户籍派出所 / 分局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代表一个厂商（VID），或一条产品线（VID+PID）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个人身份证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每台设备唯一，“我是谁”</a:t>
                      </a:r>
                    </a:p>
                  </a:txBody>
                  <a:tcPr anchor="ctr" marL="54864" marR="54864" marT="18288" marB="18288"/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学历 / 学位认证报告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CSA 联盟签发：“这个 (VID,PID) 通过了认证”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4434840"/>
            <a:ext cx="11256264" cy="13716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4617720"/>
            <a:ext cx="10707624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1F6FC5"/>
                </a:solidFill>
                <a:latin typeface="微软雅黑"/>
                <a:ea typeface="微软雅黑"/>
              </a:rPr>
              <a:t>一句话记住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333333"/>
                </a:solidFill>
                <a:latin typeface="微软雅黑"/>
                <a:ea typeface="微软雅黑"/>
              </a:rPr>
              <a:t>证书链证明“我是谁、谁为我背书”；CD 证明“我这个型号通过了官方认证”。两者缺一不可，配网时同时校验。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PKI 层级与三条硬性规定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051560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133856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PAA  信任根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FFDDDD"/>
                </a:solidFill>
                <a:latin typeface="微软雅黑"/>
                <a:ea typeface="微软雅黑"/>
              </a:rPr>
              <a:t>CA:TRUE，pathLen 缺省或 1 ｜ 自签名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57984" y="2011680"/>
            <a:ext cx="0" cy="292608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57784" y="2304288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E66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386584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PAI  中间证书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FFE8E0"/>
                </a:solidFill>
                <a:latin typeface="微软雅黑"/>
                <a:ea typeface="微软雅黑"/>
              </a:rPr>
              <a:t>CA:TRUE，pathLen=0 ｜ 必含 VID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984" y="3264408"/>
            <a:ext cx="0" cy="292608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7784" y="3557016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639312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DAC  设备证书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DDDDDD"/>
                </a:solidFill>
                <a:latin typeface="微软雅黑"/>
                <a:ea typeface="微软雅黑"/>
              </a:rPr>
              <a:t>CA:FALSE ｜ 必含 VID+PID ｜ 私钥不出设备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4709160"/>
            <a:ext cx="356616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808080"/>
                </a:solidFill>
                <a:latin typeface="微软雅黑"/>
                <a:ea typeface="微软雅黑"/>
              </a:rPr>
              <a:t>存放：PAA → Commissioner 信任库 + DCL
PAI/DAC → 设备固件 / 工厂数据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051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124712"/>
            <a:ext cx="6858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硬规定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19"/>
            <a:ext cx="68580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DAC 必须由 PAI 签发，认证路径长度固定为 2，整链恰好 3 张证书（§6.2.2 / §6.2.3.1）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130552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203704"/>
            <a:ext cx="6858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硬规定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96312"/>
            <a:ext cx="68580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PAI 必须归属一个 VID；可再限定一个 PID；服务多个产品就必须不带 PID（§6.2.2.1）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209544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282696"/>
            <a:ext cx="6858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硬规定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75303"/>
            <a:ext cx="68580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所有证书 DER ≤ 600 字节；SKID / AKID 固定 20 字节（§6.1.2 / §6.1.3）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43400"/>
            <a:ext cx="72237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1">
                <a:solidFill>
                  <a:srgbClr val="808080"/>
                </a:solidFill>
                <a:latin typeface="微软雅黑"/>
                <a:ea typeface="微软雅黑"/>
              </a:rPr>
              <a:t>证书里的 cRLDistributionPoints 可以存在，但 Commissioner 必须忽略 —— 吊销统一走 DCL（§6.2.4）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谁必须有 VID / PID（全景表）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1005840"/>
          <a:ext cx="11256262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232"/>
                <a:gridCol w="1407033"/>
                <a:gridCol w="1986399"/>
                <a:gridCol w="546259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VID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PID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 Subject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 或 1 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禁止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共享型 PAA 常不带 VID；SDK 强制有 PID → kPaaFormatInvalid</a:t>
                      </a:r>
                    </a:p>
                  </a:txBody>
                  <a:tcPr anchor="ctr" marL="54864" marR="54864" marT="18288" marB="18288"/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 Subject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1 个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 或 1 个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带 PID = 只能服务这一个产品；不带 = 服务该 VID 下所有产品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 Subject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1 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1 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设备的“身份证号”</a:t>
                      </a:r>
                    </a:p>
                  </a:txBody>
                  <a:tcPr anchor="ctr" marL="54864" marR="54864" marT="18288" marB="18288"/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 TLV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vendor_id ×1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product_id_array ×1..100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“PID 列表”只存在于 CD，不在 PAI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Basic Information 集群 (0x0028)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VendorID 属性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ProductID 属性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设备运行时自报家门，是 CD 校验的第一基准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4709160"/>
            <a:ext cx="11256264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4846320"/>
            <a:ext cx="10799064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记住两个“只能 0 或 1 个”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PAI / DAC 的 PID 是 X.509 DN 里的单值 RDN，天生不支持列表。想要“一个中间证书覆盖多个型号”，唯一做法：PAI 不带 PID + CD 的 product_id_array 列出全部已认证 PID。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证书要求逐项对照（§6.2.2.3 / §6.2.2.4 / §6.2.2.5）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1005840"/>
          <a:ext cx="11256264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536"/>
                <a:gridCol w="2836224"/>
                <a:gridCol w="3190752"/>
                <a:gridCol w="319075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检查项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DAC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PAI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PAA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版本 / 签名算法 / 曲线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v3 ｜ ecdsa-with-SHA256 ｜ prime256v1（三张证书相同）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Basic Constraints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CA:FALSE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CA:TRUE pathLen=0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CA:TRUE pathLen 缺省或 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Key Usage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仅 digitalSignature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keyCertSign+cRLSign（±digitalSignature）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critical, keyCertSign+cRLSign（±digitalSignature）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SKID / AKID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都必须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都必须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SKID 必须；AKID 可选（自签）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Subject VID /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VID + 1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VID + 0..1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0..1 VID + 0 PID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issuer 要求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 PAI 的 subject（逐字节）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 PAA 的 subject（逐字节）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 subject（自签）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其他可选扩展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ExtKeyUsage、AIA、SAN 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ExtKeyUsage 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ExtKeyUsage、AKID 等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44068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注意：三张证书的 Basic Constraints 与 Key Usage 都必须标 critical —— SDK 的格式校验会直接拒绝非 critical 证书。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808080"/>
                </a:solidFill>
                <a:latin typeface="微软雅黑"/>
                <a:ea typeface="微软雅黑"/>
              </a:rPr>
              <a:t>v1.4 中“PAA 直接签发 DAC”的两层链写法在 v1.5 已不成立：PAI 是强制存在的。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 OID 分配（Appendix E, Table 128）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2651760" cy="566928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051560"/>
            <a:ext cx="26517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1.3.6.1.4.1.37244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178308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828800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.1.x = matter-op-cert（运营证书 NOC/ICAC/RCAC 的 DN 属性）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" y="2377440"/>
            <a:ext cx="4892040" cy="173736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450592"/>
            <a:ext cx="4663440" cy="1645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.1.1  matter-node-id            Node 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.1.2  matter-firmware-signing-id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.1.3  matter-icac-id      .1.4  matter-rcac-id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.1.5  matter-fabric-id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.1.6  matter-noc-cat           CASE 认证标签 CAT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.1.7  matter-vvs-id            VID 验证签名者（1.5 新增）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18504" y="178308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828800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.2.x = matter-att-cert（设备认证证书的 DN 属性）★ 本档主角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7104" y="2377440"/>
            <a:ext cx="4892040" cy="1207008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264" y="2468880"/>
            <a:ext cx="46634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Consolas"/>
                <a:ea typeface="Consolas"/>
              </a:rPr>
              <a:t>.2.1  matter-oid-vid      Vendor ID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Consolas"/>
                <a:ea typeface="Consolas"/>
              </a:rPr>
              <a:t>.2.2  matter-oid-pid      Product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" y="4434840"/>
            <a:ext cx="11256264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553712"/>
            <a:ext cx="1079906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6FC5"/>
                </a:solidFill>
                <a:latin typeface="微软雅黑"/>
                <a:ea typeface="微软雅黑"/>
              </a:rPr>
              <a:t>口诀：.2.x 管认证（VID/PID），.1.x 管运营（NodeID / FabricID / CAT）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生成证书时 OID 用错 arc，证书过不了 Matter 合规校验。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5623560"/>
            <a:ext cx="112562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DN 属性完整表见规范正文 §6.1.1 Table 83；v1.4 的 Appendix E Table 140 对应 v1.5 的 Appendix E Table 128。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值的编码：4 字符大写 HEX 字符串（不是 2 字节二进制！）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914400"/>
            <a:ext cx="55778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规范 §6.1.1：RDN 值 = UTF8String / PrintableString，内容为大写十六进制、恰好 4 字符、不省略前导零、无前缀。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" y="1572768"/>
          <a:ext cx="566927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948"/>
                <a:gridCol w="1834178"/>
                <a:gridCol w="250115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RDN 字符串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VID 0xFFF1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“FFF1”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✓ 正确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PID 0x00B1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“00B1”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✓ 前导零必须保留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PID 0x2A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“2A”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 必须写 “002A”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任意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字节二进制 INTEGER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 OpenSSL 显示正常，Matter 解析必失败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66344" y="3977639"/>
            <a:ext cx="5669280" cy="1783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808080"/>
                </a:solidFill>
                <a:latin typeface="微软雅黑"/>
                <a:ea typeface="微软雅黑"/>
              </a:rPr>
              <a:t>SDK 解析侧代码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// src/crypto/CHIPCryptoPAL.cpp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inline constexpr size_t kVIDandPIDHexLength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= sizeof(uint16_t) * 2;                 // 必须 4 字节 ASCII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attr.size() == kVIDandPIDHexLength,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CHIP_ERROR_WRONG_CERT_DN);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Encoding::UppercaseHexToUint16(...);        // “FFF1” → 0xFFF1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55664" y="914400"/>
            <a:ext cx="5257800" cy="48463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078992"/>
            <a:ext cx="4846320" cy="4572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为什么这个坑最隐蔽？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OpenSSL / Wireshark 等通用工具按标准 X.509 显示，DN 一切“看起来正常”；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Matter 的 ExtractVIDPIDFromX509Cert 却要求值恰为 4 字节 ASCII 大写 HEX；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长度或大小写不符 → CHIP_ERROR_WRONG_CERT_DN → 证书被当作格式非法（kDacFormatInvalid 303 / kPaiFormatInvalid 203）；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排查时往往误以为是证书链问题，实际是 VID/PID 编码问题。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1F6FC5"/>
                </a:solidFill>
                <a:latin typeface="微软雅黑"/>
                <a:ea typeface="微软雅黑"/>
              </a:rPr>
              <a:t>生成证书的工具链（chip-cert、openssl.cnf 模板）里要显式按字符串写入 VID/PID。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两种编码方法：preferred vs fallback（§6.2.2.2）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486400" cy="214884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42415"/>
            <a:ext cx="5120640" cy="1920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</a:rPr>
              <a:t>Preferred：用 Matter OID 作 RDN 属性类型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Subject: CN = Matter Test PAI,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    1.3.6.1.4.1.37244.2.1 = FFF1,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    1.3.6.1.4.1.37244.2.2 = 8000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推荐方式：省 CN 空间、语义无歧义、便于 CA 做签发策略审计。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7" y="932688"/>
            <a:ext cx="5486400" cy="21488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37376" y="1042415"/>
            <a:ext cx="5120640" cy="1920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1F6FC5"/>
                </a:solidFill>
                <a:latin typeface="微软雅黑"/>
                <a:ea typeface="微软雅黑"/>
              </a:rPr>
              <a:t>Fallback：塞进 commonName 字符串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Subject: CN = Matter Test DAC 0001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    Mvid:FFF1 Mpid:8000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给不支持的 CA 基础设施用：前缀后恰好 4 位大写 HEX；取最左合法匹配；有前缀但无完整合法值 → 整证书非法。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" y="850392"/>
            <a:ext cx="11256264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三条配套规则（规范与 SDK 行为一致）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3611880"/>
            <a:ext cx="11256264" cy="1554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1. 同一个字段（subject 或 issuer）内不得混用两种方法；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2. 字段里一旦出现 Matter OID 属性，就禁止再从 CN 解析 fallback（防止两套值打架）—— SDK：OID 一无所获时才采用 CN 结果；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3. DAC 的 issuer 必须与 PAI 的 subject 逐字节相同 → PAI 用了哪种编码，它签的 DAC 的 issuer 就固定是那种。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5394960"/>
            <a:ext cx="1125626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1">
                <a:solidFill>
                  <a:srgbClr val="808080"/>
                </a:solidFill>
                <a:latin typeface="微软雅黑"/>
                <a:ea typeface="微软雅黑"/>
              </a:rPr>
              <a:t>SDK 实现：ExtractVIDPIDFromX509Cert（CHIPCryptoPALmbedTLSCert.cpp / OpenSSL 版）遍历 Subject DN 的每个 RDN，依次匹配 commonName / matter-oid-vid / matter-oid-pid。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Attestation 数据流：响应里到底有什么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394960" cy="658368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005840"/>
            <a:ext cx="5394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AttestationResponse（规范 §11.18.6.2）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755648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828800"/>
            <a:ext cx="502920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1F6FC5"/>
                </a:solidFill>
                <a:latin typeface="Consolas"/>
                <a:ea typeface="Consolas"/>
              </a:rPr>
              <a:t>AttestationElements [0]  ≤900B（RESP_MAX）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Consolas"/>
                <a:ea typeface="Consolas"/>
              </a:rPr>
              <a:t>AttestationSignature [1]  64B（ECDSA r||s）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只有这两个字段 —— 没有证书！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342900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3520440"/>
            <a:ext cx="5029200" cy="2148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1F6FC5"/>
                </a:solidFill>
                <a:latin typeface="微软雅黑"/>
                <a:ea typeface="微软雅黑"/>
              </a:rPr>
              <a:t>attestation-elements TLV（§11.18.4.6）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certification_declaration [1] : OCTET STRING（CMS 签名的 CD）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attestation_nonce [2] : 32B —— 原样带回请求里的 nonce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timestamp [3] : uint32（epoch-s），给 DCL 查询用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firmware_information [4] : 可选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  <a:ea typeface="Consolas"/>
              </a:rPr>
              <a:t>厂商字段必须用 fully-qualified tag，未知则忽略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850392"/>
            <a:ext cx="11256264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TLV 解析的三条硬规则（SDK 强制）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1280160"/>
            <a:ext cx="553212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1. 第一个 context tag 必须是 1（CD）；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2. 后续 tag 必须严格递增（防混淆 / 防重放构造）；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3. 缺 CD / nonce / timestamp 任何一个 → CHIP_ERROR_MISSING_TLV_ELEMENT → kAttestationElementsMalformed (501)。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291840"/>
            <a:ext cx="5532120" cy="128016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401568"/>
            <a:ext cx="521208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attestation_challenge：16 字节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从当前 PASE / CASE 会话派生，不出现在任何链路载荷中（§11.18.4.7 第 7 步：challenge SHALL NOT be included）。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4800600"/>
            <a:ext cx="553212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SDK 侧：src/credentials/DeviceAttestationConstructor.cpp 的 DeconstructAttestationElements()。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设备端签名：nonce 与 challenge 的双绑定设计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2104" y="105156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1F6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1188720"/>
            <a:ext cx="3108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1F6FC5"/>
                </a:solidFill>
                <a:latin typeface="Consolas"/>
                <a:ea typeface="Consolas"/>
              </a:rPr>
              <a:t>attestation_elements (TLV)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9704" y="105156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188720"/>
            <a:ext cx="3108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Consolas"/>
                <a:ea typeface="Consolas"/>
              </a:rPr>
              <a:t>attestation_challenge (16B, 会话保密)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6584" y="1737360"/>
            <a:ext cx="1463040" cy="54864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946904" y="1737360"/>
            <a:ext cx="1097280" cy="54864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3784" y="228600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2395728"/>
            <a:ext cx="31089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SHA-256（签名函数内部计算）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98264" y="2926080"/>
            <a:ext cx="0" cy="384048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43784" y="3310128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3419856"/>
            <a:ext cx="31089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ECDSA-Sign(DAC 私钥, P-256)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98264" y="3950208"/>
            <a:ext cx="0" cy="384048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43784" y="4334256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4443984"/>
            <a:ext cx="31089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  <a:ea typeface="Consolas"/>
              </a:rPr>
              <a:t>attestation_signature（64B r||s）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96012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033272"/>
            <a:ext cx="3886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nonce：防重放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325880"/>
            <a:ext cx="388620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每次配网唯一（CSPRNG 32B）；响应必须原样放回 elements[2] 并一起签名。重放旧响应 → nonce 对不上 → 502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237744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2450592"/>
            <a:ext cx="3886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challenge：防挪用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743200"/>
            <a:ext cx="388620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16B，绑定当前安全会话；中间人拿到签名也无法在另一条会话使用。缺 challenge → 无法防“证据挪用”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379476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3867912"/>
            <a:ext cx="3886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timestamp：给 DCL 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4160520"/>
            <a:ext cx="388620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Commissioner 按 DAC 的 notBefore 时间点查当时的 PAA 清单与吊销状态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" y="5349240"/>
            <a:ext cx="11256264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468112"/>
            <a:ext cx="1079906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50" b="1" i="0">
                <a:solidFill>
                  <a:srgbClr val="1F6FC5"/>
                </a:solidFill>
                <a:latin typeface="微软雅黑"/>
                <a:ea typeface="微软雅黑"/>
              </a:rPr>
              <a:t>同一把 DAC 私钥的第二次出场：CSR 阶段 nocsr_tbs = nocsr_elements || attestation_challenge，同样的签名模型 ——私钥不出安全区、数据过来签名（§11.18.4.8）。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Commissioner 的 12 步验证（上：1-6）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828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628"/>
                <a:gridCol w="2577770"/>
                <a:gridCol w="5413317"/>
                <a:gridCol w="2835547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SDK 关键动作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失败错误码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入参完整性 + 大小检查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各 buffer 非空；elements ≤ 900B（RESP_MAX）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kInvalidArgument 701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必须存在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paiDerBuffer 非空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kPaiMissing 207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/ DAC 格式校验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v3、ecdsa-with-SHA256、P-256、BC/KU 必须 critical、pathLen 规则、KU 位、SKID/AKID 在位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kPaiFormatInvalid 203 / kDacFormatInvalid 303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VID/PID 交叉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必须有 VID 且 == DAC.VID；DAC 必须有 PID；PAI 有 PID 则 == DAC.PID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kDacVendorIdMismatch 305 / kDacProductIdMismatch 306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attestation 签名校验（用 DAC 公钥）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SHA256(elements || challenge) 后 ECDSA 验签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kAttestationSignatureInvalid 500 / ...InvalidFormat 503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找 PAA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取 PAI.AKID → 信任库按 SKID 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kPaaNotFound 101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6035040"/>
            <a:ext cx="1125626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顺序依据：DefaultDACVerifier::VerifyAttestationInformation()。规范允许优化执行顺序（§6.2.3.1），SDK 以“最便宜且能尽早失败”为原则。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Commissioner 的 12 步验证（下：7-12）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828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373"/>
                <a:gridCol w="2472967"/>
                <a:gridCol w="5031208"/>
                <a:gridCol w="3325714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SDK 关键动作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失败错误码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策略检查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 有 VID 则必须 == PAI.VID；PAA 禁止有 PID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kPaiVendorIdMismatch 205 / kPaaFormatInvalid 105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有效期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以签发时刻（notBefore）为基准检查（编译期可关 CURRENT_TIME_NOT_IMPLEMENTED）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kDacExpired 300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证书链密码学验证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ValidateCertificateChain(paa, pai, dac)，mbedTLS/OpenSSL 后端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kDacSignatureInvalid 301 等（MapError）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elements TLV 解析 + nonce 比对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第一个 tag=CD、tag 严格递增；nonce data_equal 比对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kAttestationElementsMalformed 501 / kAttestationNonceMismatch 502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校验：先验签、后语义交叉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 把钥匙验签 → Basic Info 基准 → 普通 / ODM 分支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kCertificationDeclaration* 600~606</a:t>
                      </a:r>
                    </a:p>
                  </a:txBody>
                  <a:tcPr anchor="ctr" marL="54864" marR="54864" marT="18288" marB="18288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吊销检查（独立阶段）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CheckForRevokedDACChain；无 delegate 打 WARNING 跳过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kDacRevoked 302 / kPaiRevoked 202 / kPaiAndDacRevoked 208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5870448"/>
            <a:ext cx="11256264" cy="566928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5961888"/>
            <a:ext cx="10853928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</a:rPr>
              <a:t>注意第 5 步在前、第 9 步在后：先确认“设备持有 DAC 私钥”，再去验证证书链本身 —— 尽早失败，省掉昂贵的链验证。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步怎么做：ValidateAttestationSignature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6675120" cy="4206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808080"/>
                </a:solidFill>
                <a:latin typeface="微软雅黑"/>
                <a:ea typeface="微软雅黑"/>
              </a:rPr>
              <a:t>src/credentials/attestation_verifier/DeviceAttestationVerifier.cpp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CHIP_ERROR DeviceAttestationVerifier::ValidateAttestationSignature(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const P256PublicKey &amp; pubkey,          // ← 从 DAC 证书提取的公钥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const ByteSpan &amp; attestationElements,  // ← TLV 编码的 elements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const ByteSpan &amp; attestationChallenge, // ← 会话 challenge (16B)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const P256ECDSASignature &amp; signature)  // ← 设备返回的 64B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Hash_SHA256_stream hashStream;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uint8_t md[kSHA256_Hash_Length];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MutableByteSpan messageDigestSpan(md);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hashStream.Begin();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hashStream.AddData(attestationElements);   // 先喂 elements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hashStream.AddData(attestationChallenge);  // 再拼 challenge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hashStream.Finish(messageDigestSpan);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return pubkey.ECDSA_validate_hash_signature(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messageDigestSpan.data(), messageDigestSpan.size(), signature);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1005840"/>
            <a:ext cx="425196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签名消息 = elements || challenge 的 SHA-256 哈希，与规范 §11.18.4.7 的 attestation_tbs 定义逐字对应；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公钥取自 DAC 证书 —— 所以“证明持有私钥”与“证书链”天然绑定；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签名长度必须恰好 64B（r||s），否则 503 InvalidFormat；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验签失败 → 500，几乎总是设备端实现问题：拼接顺序错、没加 challenge、用错私钥。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6 步：找 PAA —— AKID → SKID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612648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808080"/>
                </a:solidFill>
                <a:latin typeface="微软雅黑"/>
                <a:ea typeface="微软雅黑"/>
              </a:rPr>
              <a:t>src/credentials/attestation_verifier/DeviceAttestationVerifier.h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class AttestationTrustStore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public: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// 用 PAI 的 AKID（= PAA 的 SKID）查询信任库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virtual CHIP_ERROR GetProductAttestationAuthorityCert(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const ByteSpan &amp; skid,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        MutableByteSpan &amp; outPaaDerBuffer) const = 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onsolas"/>
                <a:ea typeface="Consolas"/>
              </a:rPr>
              <a:t>};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" y="3520440"/>
          <a:ext cx="6126479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19"/>
                <a:gridCol w="40233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信任库实现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FileAttestationTrustStore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chip-tool --paa-trust-store-path &lt;dir&gt;：从目录加载 PAA 文件，按 SKID 匹配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TestAttestationTrustStore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SDK 内置测试 PAA（如 Chip-Test-PAA-FFF1，SKID 6A:FD:22:77:...）；生产禁用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自定义实现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产品化 Commissioner 从 DCL 同步 PAA 清单 / 厂商私有信任库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12864" y="960120"/>
            <a:ext cx="4800600" cy="1554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95744" y="1069848"/>
            <a:ext cx="448056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找不到时的日志与错误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  <a:ea typeface="Consolas"/>
              </a:rPr>
              <a:t>Unable to find PAA, err: ..., PAI's AKID: 6A:FD:...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→ kPaaNotFound (101)。排查方向：--paa-trust-store-path 目录不对 / PAA 未注册 DCL / AKID 与库内 SKID 不匹配。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12864" y="2697480"/>
            <a:ext cx="4800600" cy="30632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95744" y="2816352"/>
            <a:ext cx="4480560" cy="2834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1" i="0">
                <a:solidFill>
                  <a:srgbClr val="1F6FC5"/>
                </a:solidFill>
                <a:latin typeface="微软雅黑"/>
                <a:ea typeface="微软雅黑"/>
              </a:rPr>
              <a:t>SKID / AKID 链式关系（配网日志可直接核对）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PAA:  SKID 6A:FD:22:77:...   AKID 6A:FD:22:77:...（==SKID，自签）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PAI:  SKID 63:54:0E:47:...   AKID 6A:FD:22:77:...（=PAA.SKID）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DAC:  SKID 32:FC:27:D1:...   AKID 63:54:0E:47:...（=PAI.SKID）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首尾相接形成信任链；PAA 自签的标志就是 AKID == SKID。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11 步：CD 校验 —— 先签名、后语义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6583680" cy="48006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// ① 验 CMS 签名（ValidateCertificationDeclarationSignature）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CMS_ExtractKeyId(cmsEnvelope, kid);        // 从 SignerInfo 取 KeyID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mCdKeysTrustStore.LookupVerifyingKey(kid, verifyingKey);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if (IsCdTestKey(kid) &amp;&amp; !IsCdTestKeySupported())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return kCertificationDeclarationNoCertificateFound;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CMS_Verify(cmsEnvelope, verifyingKey, cdPayload);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// ② 语义交叉校验（ValidateCertificateDeclarationPayload）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DecodeCertificationElements(...);          // TLV 解析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cdContent.formatVersion == 1 &amp;&amp;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cdContent.certificationType &lt; kReserved, ...);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// 第一基准：Basic Information 集群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cdContent.vendorId == deviceInfo.vendorId,   // ← Basic Info VID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kCertificationDeclarationInvalidVendorId);   // 604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VerifyOrReturnError(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IsProductIdIn(cd, deviceInfo.productId),     // ← Basic Info PID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    kCertificationDeclarationInvalidProductId);  // 605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if (!cdContent.dacOriginVIDandPIDPresent) { /* 普通模式 */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onsolas"/>
                <a:ea typeface="Consolas"/>
              </a:rPr>
              <a:t>else                     { /* ODM 模式，见校验矩阵 */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0064" y="1005840"/>
            <a:ext cx="4343400" cy="4846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两个容易被忽略的强制点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1. PAI 带 PID 时，这个 PID 也必须在 CD 的 product_id_array 里（普通模式），或等于 dac_origin_product_id（ODM 模式）。“PAI 通配所有 PID”的前提是它根本不带 PID。</a:t>
            </a:r>
          </a:p>
          <a:p>
            <a:pPr algn="l">
              <a:spcBef>
                <a:spcPts val="200"/>
              </a:spcBef>
              <a:spcAft>
                <a:spcPts val="8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2. 即使 ODM 模式，CD.vendor_id / product_id_array 仍然必须匹配 Basic Info —— 设备 Basic Info 报品牌身份，DAC 报原厂身份，CD 用 dac_origin_* 把两者绑定。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deviceInfo.vendorId / productId 的注释：“reported by device in Basic Information cluster”。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是什么 + CMS 结构（§6.3.1）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896112"/>
            <a:ext cx="11256264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CD = CSA 联盟（不是厂商！）签发的一段 CMS 签名数据，声明 “VID=V 的这些 PID 已通过认证（类型 T）”。产品认证通过后颁发，随固件/工厂数据写入设备，配网时在 AttestationResponse 里上交。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规范明文：Certification Declarations SHALL NOT be generated by any Node —— 设备只能存储并转发。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178308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44" y="1828800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CertificationDeclaration ::=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239572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2773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version  = v3(3)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276148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79349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digestAlgorithm = sha256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312724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15925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encapContentInfo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49300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52501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   eContentType = pkcs7-data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85876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9077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   eContent = OCTET STRING ← TLV 明文（下页）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422452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25653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signerInfo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459028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62229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 i="0">
                <a:solidFill>
                  <a:srgbClr val="1F6FC5"/>
                </a:solidFill>
                <a:latin typeface="Consolas"/>
                <a:ea typeface="Consolas"/>
              </a:rPr>
              <a:t>   subjectKeyIdentifier ← KeyID，选验签公钥的依据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" y="495604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98805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   digestAlgorithm = sha256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532180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35381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   signatureAlgorithm = ecdsa-with-SHA256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" y="5687568"/>
            <a:ext cx="5212080" cy="329184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719572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onsolas"/>
                <a:ea typeface="Consolas"/>
              </a:rPr>
              <a:t>   signature = OCTET STRING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1383" y="1783080"/>
            <a:ext cx="5212080" cy="3977639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1" y="1920240"/>
            <a:ext cx="4800600" cy="3749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要点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CMS 是 RFC 5652 SignedData 的最小子集 —— 没有 certificates / crls 字段；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验签公钥不随 CD 传输：Commissioner 用 signerInfo 里的 SKID（20B）在内置钥匙表里查（下下页）；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digest 与签名算法固定 sha256 + ecdsa-with-SHA256，曲线 secp256r1；</a:t>
            </a:r>
          </a:p>
          <a:p>
            <a:pPr algn="l">
              <a:spcBef>
                <a:spcPts val="20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eContent 里是 TLV 明文 —— 验签通过后取出再做语义交叉校验。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内嵌 TLV 明文：certification-elements（修正版）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60120"/>
          <a:ext cx="11256261" cy="4864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586"/>
                <a:gridCol w="2767933"/>
                <a:gridCol w="2398875"/>
                <a:gridCol w="5535867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tag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字段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format_version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固定 = 1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vendor_id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== Basic Info 的 VendorID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product_id_array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uint16[1..100]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 ⊇ Basic Info 的 ProductID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device_type_id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uint32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设备主设备类型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certificate_id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string[19]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CSA 分配的全局唯一编号，如 “ZIG20142ZB330003-24”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security_level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★ 8-bit（旧版误写 32-bit）；保留，置 0，读时忽略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security_information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保留，置 0，读时忽略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version_number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自身版本号（联盟分配，与固件版本无关）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certification_type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uint8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0=开发测试  1=临时(Provisional)  2=正式；≥3 保留，SDK 直接拒绝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dac_origin_vendor_id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可选；与 [10] 必须成对出现 / 成对缺省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dac_origin_product_id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uint16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可选；ODM 场景指向原厂 DAC 的 PID</a:t>
                      </a:r>
                    </a:p>
                  </a:txBody>
                  <a:tcPr anchor="ctr" marL="54864" marR="54864" marT="18288" marB="18288"/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authorized_paa_list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OCTET STRING[20] ×1..10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可选；允许签发 PAI 的 PAA SKI 白名单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6080760"/>
            <a:ext cx="1125626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未列出的 context tag：保留，Commissioner 必须静默忽略（SDK 的解析器按 tag-order 严格递增读取）。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验签公钥：SDK 内置 6 把钥匙（gCdSigningKeys[]）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3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8117"/>
                <a:gridCol w="7858146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Key ID（SKID, 20 字节）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测试 CD Signing Key（仅开发）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62:FA:82:33:59:AC:FA:A9:96:3E:1C:FA:14:0A:DD:F5:04:F3:71:60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FE:34:3F:95:99:47:76:3B:61:EE:45:39:13:13:38:49:4F:E6:7D:8E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002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DD:04:DB:58:5B:21:4C:1C:58:15:87:E6:56:8D:F4:87:B6:DD:C7:01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47:10:35:E7:C0:4E:AA:A8:BE:7C:4D:4C:13:E3:E4:C2:09:95:A8:4B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004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F6:86:03:A3:69:2E:98:10:72:41:9E:A1:E1:AB:38:54:BD:77:95:D3</a:t>
                      </a:r>
                    </a:p>
                  </a:txBody>
                  <a:tcPr anchor="ctr" marL="54864" marR="54864"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 Signing Key 005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63:7F:26:34:AD:62:EA:FE:6A:F6:62:EF:B9:6F:6F:D2:FC:BF:FC:2F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" y="3886200"/>
            <a:ext cx="11256264" cy="694944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3941063"/>
            <a:ext cx="15544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信任锚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5144" y="3941063"/>
            <a:ext cx="9153144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官方钥匙的证书必须链到 CSA 根：CN = Matter Certification and Testing CA, O = CSA（SDK 内嵌 gCdRootCert）；运行时 AddTrustedKey(derCert) 追加的钥匙会先做链验证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4690872"/>
            <a:ext cx="11256264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4745736"/>
            <a:ext cx="15544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测试钥匙开关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4745736"/>
            <a:ext cx="9153144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EnableCdTestKeySupport(bool)：默认 true；生产必须设 false，否则测试 CD 仍然通行（日志 Disallowing CD signed by test key）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5495544"/>
            <a:ext cx="11256264" cy="694944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5550407"/>
            <a:ext cx="15544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日志对照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5550407"/>
            <a:ext cx="9153144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chip-tool 打印 CD signing key identifier: FE:34:... 即命中官方 001 号钥匙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VID/PID 交叉校验总矩阵（背下这张表）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256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20368"/>
                <a:gridCol w="2723289"/>
                <a:gridCol w="3812605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校验关系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普通模式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ODM 模式（CD 含 dac_origin_*）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CD.vendor_id ↔ Basic Info VendorID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必须（不变）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CD.product_id_array ⊇ Basic Info ProductID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必须（不变）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DAC.VID ↔ CD.vendor_id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✗（换成下行）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DAC.VID ↔ CD.dac_origin_vendor_id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PAI.VID ↔ CD.vendor_id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✗（换成 dac_origin_vendor_id）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DAC.PID ↔ CD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∈ product_id_array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== dac_origin_product_id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PAI.PID（若有）↔ CD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∈ product_id_array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== dac_origin_product_id</a:t>
                      </a:r>
                    </a:p>
                  </a:txBody>
                  <a:tcPr anchor="ctr" marL="54864" marR="54864" marT="18288" marB="18288"/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DAC.VID ↔ PAI.VID（第 4 步，与 CD 无关）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PAA.SKID ∈ authorized_paa_list（若存在）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80644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读法：ODM 模式只替换“证书身份 ↔ CD”这一组关系；“CD ↔ Basic Info”与“证书链内部”的关系任何模式下都成立。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808080"/>
                </a:solidFill>
                <a:latin typeface="微软雅黑"/>
                <a:ea typeface="微软雅黑"/>
              </a:rPr>
              <a:t>三处身份必须同源配置：DAC/PAI 证书 ↔ CD ↔ Basic Information 集群。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FAQ（上）：PID 与 CD 的三种典型疑问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11256264" cy="1691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33272"/>
            <a:ext cx="108539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Q1  PAI 能不能带“一组 PID”，让 DAC 报列表里任意一个都通过？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10853928" cy="11887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不能。PAI 的 PID 是 X.509 DN 里的单值 RDN，只能 0 个或 1 个。要覆盖多型号只有一种姿势：PAI 不带 PID（对该 VID 下所有 PID 都有签发权）+ 所有已认证 PID 进 CD 的 product_id_array。SDK 第 4 步只在 PAI 带 PID 时才强制 PAI.PID == DAC.PID；第 11 步强制 DAC.PID ∈ CD 列表，且 PAI.PID（若有）也 ∈ CD 列表。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2761488"/>
            <a:ext cx="11256264" cy="1691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834640"/>
            <a:ext cx="108539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Q2  DAC 的 PID 不在 CD 的 product_id_array 里，能入网吗？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72968"/>
            <a:ext cx="10853928" cy="11887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不能。规范 §6.2.3.1 是 SHALL 级校验，SDK 返回 kCertificationDeclarationInvalidProductId (605)，chip-tool 直接终止 commissioning。VID 不匹配对应 604。唯一例外见下一问。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4562856"/>
            <a:ext cx="11256264" cy="19659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636008"/>
            <a:ext cx="108539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Q3  真有一台“PID 对不上却入网成功”的设备，怎么解释？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974336"/>
            <a:ext cx="10853928" cy="1463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① ODM 模式：DAC 匹配的是 CD 的 dac_origin_* 字段（日志会打印 DAC origin VID/PID）—— 合规；② Commissioner 实现有缺陷 / 开发模式放宽；③ 某些 Commissioner 不读 Basic Info，少了一道交叉；④ 吊销 / 固件信息检查允许降级，但不影响 VID/PID 强校验。结论：对量产零售产品，不合理，除非命中 ①。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FAQ（下）：dac_origin 与量产实践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60120"/>
            <a:ext cx="11256264" cy="14173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14984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Q4  dac_origin_vendor_id / dac_origin_product_id 是什么（“Original PID”）？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44168"/>
            <a:ext cx="10853928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规范里没有叫 Original PID 的字段，正式名称就是 CD 的 dac_origin_* [9]/[10]：必须成对出现或成对缺省；为 ODM 贴牌设计 —— ODM 出厂时 DAC/PAI 已固化自己的 VID/PID，品牌方写入自己的 CD（常规字段=品牌 + dac_origin_*=原厂链）。origin 值与常规值可以相同（原厂即品牌时）。关键洞察：Basic Info 报品牌身份，DAC 报原厂身份，CD 把两套身份绑定。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2468880"/>
            <a:ext cx="11256264" cy="1051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523744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Q5  Basic Information 集群报的 VID/PID 和证书不一致会怎样？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52928"/>
            <a:ext cx="10853928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CD 校验直接失败（604/605）：CD.vendor_id 必须 == Basic Info VendorID、product_id_array 必须 ⊇ Basic Info ProductID。烧录工厂数据时，证书、CD、Basic Info 三处必须同源配置。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3611880"/>
            <a:ext cx="11256264" cy="12344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666744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Q6  签名为什么要同时掺 nonce 和 challenge？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995928"/>
            <a:ext cx="10853928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nonce 防重放（每次配网唯一，响应必须原样带回并签名）；challenge 绑定安全会话（16B，PASE/CASE 派生，从不上链路），防中间人把签名挪到别的会话使用。只防“旧证据重放”不够，还要防“证据挪用”。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4937760"/>
            <a:ext cx="11256264" cy="12344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992624"/>
            <a:ext cx="1085392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Q7  开发用 0xFFF1/0x8000 测试证书，量产要注意什么？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321808"/>
            <a:ext cx="10853928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换 CSA 官方/自有 PAA（注册 DCL）；换联盟签发的正式 CD（type=1/2）；EnableCdTestKeySupport(false)；真实 PKI 签发 DAC，私钥进安全元件；实现 revocation delegate。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设备端落地（Silicon Labs）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932688"/>
            <a:ext cx="5760720" cy="2377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36576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808080"/>
                </a:solidFill>
                <a:latin typeface="微软雅黑"/>
                <a:ea typeface="微软雅黑"/>
              </a:rPr>
              <a:t>src/credentials/DeviceAttestationCredsProvider.h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class DeviceAttestationCredentialsProvider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virtual CHIP_ERROR GetCertificationDeclaration(...);   // CD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virtual CHIP_ERROR GetFirmwareInformation(...);        // 可为空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virtual CHIP_ERROR GetDeviceAttestationCert(...);      // DAC 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virtual CHIP_ERROR GetProductAttestationIntermediateCert(...);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// 签名在设备内部完成，私钥永远不返回：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virtual CHIP_ERROR SignWithDeviceAttestationKey(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    const ByteSpan &amp; messageToSign,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      MutableByteSpan &amp; outSignatureBuffer) = 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3429000"/>
            <a:ext cx="5760720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两个现成实现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Font typeface="Arial"/>
              <a:buChar char="▪"/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开发：ExampleDACProvider（src/credentials/examples/）内置 DevelopmentCerts 的 DAC/PAI/CD，软算签名；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Font typeface="Arial"/>
              <a:buChar char="▪"/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量产：DAC/PAI/CD 从工厂数据区读取，SignWithDeviceAttestationKey 下发安全元件（SE/TEE/TA）内部完成；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Font typeface="Arial"/>
              <a:buChar char="▪"/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设计要点：NVM3 只存“凭据区基址 + 各段偏移/长度”，证书本体放独立 flash 凭据区，DAC 私钥放 SE/TA 不可导出。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/>
              <a:buChar char="▪"/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读取工具：commander nvm3 read / parse。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47104" y="932688"/>
          <a:ext cx="5166359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666"/>
                <a:gridCol w="1270416"/>
                <a:gridCol w="1863277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NVM3 Key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Creds_KeyId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0x087220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签名钥匙序号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Creds_Base_Addr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0x087221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凭据区 flash 基址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Creds_DAC_Offset / Size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0x087222/23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证书位置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Creds_PAI_Offset / Size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0x087224/25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证书位置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Creds_CD_Offset / Size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0x087226/27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位置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47104" y="3200400"/>
            <a:ext cx="516636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Key = 0x087000 (Matter NVM3 域) | (0x2 &lt;&lt; 8) | id，合法区间 [0x087200, 0x087FFF]。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1F6FC5"/>
                </a:solidFill>
                <a:latin typeface="微软雅黑"/>
                <a:ea typeface="微软雅黑"/>
              </a:rPr>
              <a:t>量产工厂数据清单：DAC / PAI / CD / DAC 私钥（SE 内）/ Basic Info 数据（VID、PID、序列号等，与证书同源）/ SPAKE2+ 参数。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错误码速查与排查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6344" y="987552"/>
          <a:ext cx="11256262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1653"/>
                <a:gridCol w="2701503"/>
                <a:gridCol w="5583106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错误码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排查方向</a:t>
                      </a:r>
                    </a:p>
                  </a:txBody>
                  <a:tcPr anchor="ctr" marL="54864" marR="54864" marT="18288" marB="18288">
                    <a:solidFill>
                      <a:srgbClr val="C0000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101 kPaaNotFound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信任库找不到 PAA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--paa-trust-store-path 目录不对 / 未注册 DCL / AKID↔SKID 不匹配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203/303 FormatInvalid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/ DAC 格式非法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BC、KU 非 critical；pathLen 错；KU 位错；OID 用错 arc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305/306 Vid/PidMismatch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DAC 与 PAI 的 VID/PID 不一致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产线证书配置；PAI 缺 VID；DAC 缺 PID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301 kDacSignatureInvalid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证书链签名验证失败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PAI 不是签发该 DAC 的钥匙（常为产线刷错 PAI）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500 AttestationSignatureInvalid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attestation 签名失败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设备端：拼接顺序错、没加 challenge、用错私钥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502 NonceMismatch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nonce 不匹配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设备没把请求里的 nonce 原样放进 elements[2]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604/605 InvalidVendor/ProductId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与 VID/PID 交叉失败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证书 ↔ CD ↔ Basic Info 三处不同源（FAQ-Q5）</a:t>
                      </a:r>
                    </a:p>
                  </a:txBody>
                  <a:tcPr anchor="ctr" marL="54864" marR="54864" marT="18288" marB="18288"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601 + Disallowing test key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CD 用测试钥匙且被关闭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量产设备 + Commissioner 已 EnableCdTestKeySupport(false)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44" y="580644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完整枚举见 SDK src/credentials/attestation_verifier/DeviceAttestationVerifier.h（100/200/300/400/500/600/700 分段）；文字描述用 GetAttestationResultDescription()。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生产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" y="10332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1069848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987552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证书：v3、ecdsa-with-SHA256、P-256；BC/KU 均 critical；DAC KU 仅 digitalSignature；PAI/PAA KU 为 keyCertSign+cRLSign；PAI pathLen=0；PAA pathLen 缺省或 1；DER ≤ 600B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" y="1600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636776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554480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VID/PID 编码：preferred（OID .2.1/.2.2）或 fallback（Mvid:/Mpid:）二选一；值是 4 字符大写 HEX 字符串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21671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203704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链条：恰好 PAA→PAI→DAC 三层；AKID/SKID 首尾相接；DAC.issuer 与 PAI.subject 逐字节相同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27340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2770632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88336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三处身份同源：DAC/PAI ↔ CD ↔ Basic Information 集群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3300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3337560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255264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ODM 贴牌：CD 成对携带 dac_origin_*，品牌身份进常规字段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" y="386791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3904487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22191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Commissioner：EnableCdTestKeySupport(false)；PAA 信任库来自 DCL；实现 revocation delegate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" y="44348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4471416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389120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设备：DAC 私钥仅存安全元件；签名走 SignWithDeviceAttestationKey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50017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" y="5038344"/>
            <a:ext cx="31089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956048"/>
            <a:ext cx="10780776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回归：用规范附录 F 测试向量做验签单测；chip-tool 全流程 + 异常注入（错 PID / 错 nonce / 换 CD）验证错误路径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5806440"/>
            <a:ext cx="112562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1">
                <a:solidFill>
                  <a:srgbClr val="808080"/>
                </a:solidFill>
                <a:latin typeface="微软雅黑"/>
                <a:ea typeface="微软雅黑"/>
              </a:rPr>
              <a:t>参考：Matter Core Spec R1.5 §6.1-6.3、§11.18、Appendix E/F；SDK src/credentials/ 与 src/platform/silabs/；DCL：dcl.csa-iot.org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xMTI1NTFmM2MzOWJhZjQxYWQxZmZiNTMwMGI5NDkifQ=="/>
  <p:tag name="KSO_WPP_MARK_KEY" val="0998e8b0-472f-4932-b042-428429815a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73</Words>
  <Application>Microsoft Office PowerPoint</Application>
  <PresentationFormat>宽屏</PresentationFormat>
  <Paragraphs>16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微软雅黑</vt:lpstr>
      <vt:lpstr>阿里巴巴普惠体 R</vt:lpstr>
      <vt:lpstr>Arial</vt:lpstr>
      <vt:lpstr>Arial Black</vt:lpstr>
      <vt:lpstr>Calibri</vt:lpstr>
      <vt:lpstr>自定义设计方案</vt:lpstr>
      <vt:lpstr>1_自定义设计方案</vt:lpstr>
      <vt:lpstr>2_自定义设计方案</vt:lpstr>
      <vt:lpstr>PowerPoint 演示文稿</vt:lpstr>
      <vt:lpstr>PowerPoint 演示文稿</vt:lpstr>
      <vt:lpstr>PowerPoint 演示文稿</vt:lpstr>
    </vt:vector>
  </TitlesOfParts>
  <Company>华普微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华普微Matter解决方案</dc:title>
  <dc:creator>Lei Sun</dc:creator>
  <cp:lastModifiedBy>huide</cp:lastModifiedBy>
  <cp:revision>7700</cp:revision>
  <dcterms:created xsi:type="dcterms:W3CDTF">2022-11-21T07:58:00Z</dcterms:created>
  <dcterms:modified xsi:type="dcterms:W3CDTF">2026-08-31T02:38:37Z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E0B14DF8367343C1BDA17417F696BF4B_13</vt:lpwstr>
  </property>
</Properties>
</file>